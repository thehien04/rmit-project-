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22"/>
    </p:embeddedFont>
    <p:embeddedFont>
      <p:font typeface="Aptos" charset="1" panose="020B0004020202020204"/>
      <p:regular r:id="rId23"/>
    </p:embeddedFont>
    <p:embeddedFont>
      <p:font typeface="Be Vietnam Pro" charset="1" panose="00000000000000000000"/>
      <p:regular r:id="rId25"/>
    </p:embeddedFont>
    <p:embeddedFont>
      <p:font typeface="Be Vietnam Pro Bold" charset="1" panose="00000000000000000000"/>
      <p:regular r:id="rId26"/>
    </p:embeddedFont>
    <p:embeddedFont>
      <p:font typeface="Canva Sans Bold" charset="1" panose="020B0803030501040103"/>
      <p:regular r:id="rId28"/>
    </p:embeddedFont>
    <p:embeddedFont>
      <p:font typeface="Aptos Italics" charset="1" panose="020B0004020202090204"/>
      <p:regular r:id="rId32"/>
    </p:embeddedFont>
    <p:embeddedFont>
      <p:font typeface="Be Vietnam Pro Italics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Evidence supplied by the project team: McDonnall et al. (2025/2026), Access Technology in the Workplace Study. Percentages should be checked against the final reference list before submission.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Sources supplied by the project team: Trần (2026); NSO Vietnam (2024); McDonnall et al. (2025/2026). Verify final APA references and year consistency before submission.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2.jpe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9.png" Type="http://schemas.openxmlformats.org/officeDocument/2006/relationships/image"/><Relationship Id="rId9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550" y="1028700"/>
            <a:ext cx="8929688" cy="8900479"/>
            <a:chOff x="0" y="0"/>
            <a:chExt cx="11906250" cy="118673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06250" cy="11867305"/>
            </a:xfrm>
            <a:custGeom>
              <a:avLst/>
              <a:gdLst/>
              <a:ahLst/>
              <a:cxnLst/>
              <a:rect r="r" b="b" t="t" l="l"/>
              <a:pathLst>
                <a:path h="11867305" w="11906250">
                  <a:moveTo>
                    <a:pt x="0" y="0"/>
                  </a:moveTo>
                  <a:lnTo>
                    <a:pt x="11906250" y="0"/>
                  </a:lnTo>
                  <a:lnTo>
                    <a:pt x="11906250" y="11867305"/>
                  </a:lnTo>
                  <a:lnTo>
                    <a:pt x="0" y="11867305"/>
                  </a:lnTo>
                  <a:close/>
                </a:path>
              </a:pathLst>
            </a:custGeom>
            <a:solidFill>
              <a:srgbClr val="052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4152" y="1465648"/>
            <a:ext cx="8429625" cy="1285875"/>
            <a:chOff x="0" y="0"/>
            <a:chExt cx="11239500" cy="171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95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239500" cy="171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ALTONOMY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4152" y="2496387"/>
            <a:ext cx="8001000" cy="600075"/>
            <a:chOff x="0" y="0"/>
            <a:chExt cx="10668000" cy="800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8000" cy="800100"/>
            </a:xfrm>
            <a:custGeom>
              <a:avLst/>
              <a:gdLst/>
              <a:ahLst/>
              <a:cxnLst/>
              <a:rect r="r" b="b" t="t" l="l"/>
              <a:pathLst>
                <a:path h="8001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6680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Alternative Access. Full Autonomy.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4152" y="3135893"/>
            <a:ext cx="8397883" cy="1701198"/>
            <a:chOff x="0" y="0"/>
            <a:chExt cx="11197177" cy="2268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97177" cy="2268264"/>
            </a:xfrm>
            <a:custGeom>
              <a:avLst/>
              <a:gdLst/>
              <a:ahLst/>
              <a:cxnLst/>
              <a:rect r="r" b="b" t="t" l="l"/>
              <a:pathLst>
                <a:path h="2268264" w="11197177">
                  <a:moveTo>
                    <a:pt x="0" y="0"/>
                  </a:moveTo>
                  <a:lnTo>
                    <a:pt x="11197177" y="0"/>
                  </a:lnTo>
                  <a:lnTo>
                    <a:pt x="11197177" y="2268264"/>
                  </a:lnTo>
                  <a:lnTo>
                    <a:pt x="0" y="22682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973" r="8128" b="-1776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197177" cy="2268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work opens the gate but inaccessible systems gatekeep autonomy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5894" y="4875191"/>
            <a:ext cx="7858125" cy="907371"/>
            <a:chOff x="0" y="0"/>
            <a:chExt cx="10477500" cy="12098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77500" cy="1209828"/>
            </a:xfrm>
            <a:custGeom>
              <a:avLst/>
              <a:gdLst/>
              <a:ahLst/>
              <a:cxnLst/>
              <a:rect r="r" b="b" t="t" l="l"/>
              <a:pathLst>
                <a:path h="1209828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209828"/>
                  </a:lnTo>
                  <a:lnTo>
                    <a:pt x="0" y="12098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270" r="0" b="-16322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477500" cy="1209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Focus area: Employment and digital accessibility</a:t>
              </a:r>
            </a:p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Solution category: Technological Solutions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1581" y="5935088"/>
            <a:ext cx="8429625" cy="1285875"/>
            <a:chOff x="0" y="0"/>
            <a:chExt cx="11239500" cy="1714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395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1239500" cy="172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L!T-a-Byte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6700" y="7006612"/>
            <a:ext cx="8465692" cy="2832777"/>
            <a:chOff x="0" y="0"/>
            <a:chExt cx="11287590" cy="377703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657317" cy="3657317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3607" t="-11901" r="-8748" b="-10454"/>
                </a:stretch>
              </a:blip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695417" y="0"/>
              <a:ext cx="3777036" cy="3777036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138" r="0" b="-138"/>
                </a:stretch>
              </a:blip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7510553" y="0"/>
              <a:ext cx="3777036" cy="3777036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48082" t="-117609" r="-65532" b="-32954"/>
                </a:stretch>
              </a:blipFill>
            </p:spPr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" y="3114675"/>
            <a:ext cx="17900908" cy="6500812"/>
            <a:chOff x="0" y="0"/>
            <a:chExt cx="23867878" cy="8667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67878" cy="8667750"/>
            </a:xfrm>
            <a:custGeom>
              <a:avLst/>
              <a:gdLst/>
              <a:ahLst/>
              <a:cxnLst/>
              <a:rect r="r" b="b" t="t" l="l"/>
              <a:pathLst>
                <a:path h="8667750" w="23867878">
                  <a:moveTo>
                    <a:pt x="0" y="0"/>
                  </a:moveTo>
                  <a:lnTo>
                    <a:pt x="23867878" y="0"/>
                  </a:lnTo>
                  <a:lnTo>
                    <a:pt x="23867878" y="8667750"/>
                  </a:lnTo>
                  <a:lnTo>
                    <a:pt x="0" y="8667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343275"/>
            <a:ext cx="6000750" cy="688092"/>
            <a:chOff x="0" y="0"/>
            <a:chExt cx="8001000" cy="9174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01000" cy="917456"/>
            </a:xfrm>
            <a:custGeom>
              <a:avLst/>
              <a:gdLst/>
              <a:ahLst/>
              <a:cxnLst/>
              <a:rect r="r" b="b" t="t" l="l"/>
              <a:pathLst>
                <a:path h="917456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917456"/>
                  </a:lnTo>
                  <a:lnTo>
                    <a:pt x="0" y="917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5009" r="0" b="-948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001000" cy="92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586412"/>
            <a:ext cx="9572625" cy="2214562"/>
            <a:chOff x="0" y="0"/>
            <a:chExt cx="12763500" cy="2952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63500" cy="2952750"/>
            </a:xfrm>
            <a:custGeom>
              <a:avLst/>
              <a:gdLst/>
              <a:ahLst/>
              <a:cxnLst/>
              <a:rect r="r" b="b" t="t" l="l"/>
              <a:pathLst>
                <a:path h="2952750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2952750"/>
                  </a:lnTo>
                  <a:lnTo>
                    <a:pt x="0" y="2952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225" r="0" b="-342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2763500" cy="295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1"/>
                </a:lnSpc>
              </a:pP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Blind or low-vision new hires need to </a:t>
              </a:r>
              <a:r>
                <a:rPr lang="en-US" sz="2726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familiarize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 themselves with </a:t>
              </a:r>
              <a:r>
                <a:rPr lang="en-US" sz="2726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internal systems independently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 during </a:t>
              </a:r>
              <a:r>
                <a:rPr lang="en-US" sz="2726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probation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, but existing interfaces and training provide insufficient accessible context for their screen-reading tools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25786" y="3812497"/>
            <a:ext cx="3067638" cy="2202540"/>
            <a:chOff x="0" y="0"/>
            <a:chExt cx="3377565" cy="24250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7565" cy="2425065"/>
            </a:xfrm>
            <a:custGeom>
              <a:avLst/>
              <a:gdLst/>
              <a:ahLst/>
              <a:cxnLst/>
              <a:rect r="r" b="b" t="t" l="l"/>
              <a:pathLst>
                <a:path h="2425065" w="3377565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3146552" y="0"/>
                  </a:lnTo>
                  <a:cubicBezTo>
                    <a:pt x="3274060" y="0"/>
                    <a:pt x="3377565" y="103378"/>
                    <a:pt x="3377565" y="231013"/>
                  </a:cubicBezTo>
                  <a:lnTo>
                    <a:pt x="3377565" y="2194052"/>
                  </a:lnTo>
                  <a:cubicBezTo>
                    <a:pt x="3377565" y="2321560"/>
                    <a:pt x="3274187" y="2425065"/>
                    <a:pt x="3146552" y="2425065"/>
                  </a:cubicBezTo>
                  <a:lnTo>
                    <a:pt x="231013" y="2425065"/>
                  </a:lnTo>
                  <a:cubicBezTo>
                    <a:pt x="103378" y="2425065"/>
                    <a:pt x="0" y="2321687"/>
                    <a:pt x="0" y="2194052"/>
                  </a:cubicBez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037032" y="3823744"/>
            <a:ext cx="138416" cy="2180048"/>
            <a:chOff x="0" y="0"/>
            <a:chExt cx="152400" cy="2400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324100"/>
                  </a:lnTo>
                  <a:cubicBezTo>
                    <a:pt x="152400" y="2366137"/>
                    <a:pt x="118237" y="2400300"/>
                    <a:pt x="76200" y="2400300"/>
                  </a:cubicBezTo>
                  <a:cubicBezTo>
                    <a:pt x="34163" y="2400300"/>
                    <a:pt x="0" y="2366137"/>
                    <a:pt x="0" y="2324100"/>
                  </a:cubicBezTo>
                  <a:close/>
                </a:path>
              </a:pathLst>
            </a:custGeom>
            <a:solidFill>
              <a:srgbClr val="ED1B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17675" y="4031367"/>
            <a:ext cx="2456879" cy="484455"/>
            <a:chOff x="0" y="0"/>
            <a:chExt cx="27051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05100" cy="533400"/>
            </a:xfrm>
            <a:custGeom>
              <a:avLst/>
              <a:gdLst/>
              <a:ahLst/>
              <a:cxnLst/>
              <a:rect r="r" b="b" t="t" l="l"/>
              <a:pathLst>
                <a:path h="5334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816" r="0" b="-4881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7051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57.5%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48467" y="4498520"/>
            <a:ext cx="2456879" cy="1314949"/>
            <a:chOff x="0" y="0"/>
            <a:chExt cx="2705100" cy="1447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051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69" t="0" r="-1866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70510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7"/>
                </a:lnSpc>
              </a:pPr>
              <a:r>
                <a:rPr lang="en-US" sz="1556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Screen readers </a:t>
              </a:r>
              <a:r>
                <a:rPr lang="en-US" sz="1556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encountered required workplace software that was inaccessible</a:t>
              </a:r>
            </a:p>
            <a:p>
              <a:pPr algn="l">
                <a:lnSpc>
                  <a:spcPts val="1867"/>
                </a:lnSpc>
              </a:pPr>
              <a:r>
                <a:rPr lang="en-US" sz="1556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(McDonnall et al., 2026)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382367" y="3812497"/>
            <a:ext cx="3067638" cy="2202540"/>
            <a:chOff x="0" y="0"/>
            <a:chExt cx="3377565" cy="24250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77565" cy="2425065"/>
            </a:xfrm>
            <a:custGeom>
              <a:avLst/>
              <a:gdLst/>
              <a:ahLst/>
              <a:cxnLst/>
              <a:rect r="r" b="b" t="t" l="l"/>
              <a:pathLst>
                <a:path h="2425065" w="3377565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3146552" y="0"/>
                  </a:lnTo>
                  <a:cubicBezTo>
                    <a:pt x="3274060" y="0"/>
                    <a:pt x="3377565" y="103378"/>
                    <a:pt x="3377565" y="231013"/>
                  </a:cubicBezTo>
                  <a:lnTo>
                    <a:pt x="3377565" y="2194052"/>
                  </a:lnTo>
                  <a:cubicBezTo>
                    <a:pt x="3377565" y="2321560"/>
                    <a:pt x="3274187" y="2425065"/>
                    <a:pt x="3146552" y="2425065"/>
                  </a:cubicBezTo>
                  <a:lnTo>
                    <a:pt x="231013" y="2425065"/>
                  </a:lnTo>
                  <a:cubicBezTo>
                    <a:pt x="103378" y="2425065"/>
                    <a:pt x="0" y="2321687"/>
                    <a:pt x="0" y="2194052"/>
                  </a:cubicBez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393613" y="3823744"/>
            <a:ext cx="138416" cy="2180048"/>
            <a:chOff x="0" y="0"/>
            <a:chExt cx="152400" cy="2400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324100"/>
                  </a:lnTo>
                  <a:cubicBezTo>
                    <a:pt x="152400" y="2366137"/>
                    <a:pt x="118237" y="2400300"/>
                    <a:pt x="76200" y="2400300"/>
                  </a:cubicBezTo>
                  <a:cubicBezTo>
                    <a:pt x="34163" y="2400300"/>
                    <a:pt x="0" y="2366137"/>
                    <a:pt x="0" y="2324100"/>
                  </a:cubicBezTo>
                  <a:close/>
                </a:path>
              </a:pathLst>
            </a:custGeom>
            <a:solidFill>
              <a:srgbClr val="21B5E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774256" y="4031367"/>
            <a:ext cx="2456879" cy="484455"/>
            <a:chOff x="0" y="0"/>
            <a:chExt cx="2705100" cy="533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05100" cy="533400"/>
            </a:xfrm>
            <a:custGeom>
              <a:avLst/>
              <a:gdLst/>
              <a:ahLst/>
              <a:cxnLst/>
              <a:rect r="r" b="b" t="t" l="l"/>
              <a:pathLst>
                <a:path h="5334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816" r="0" b="-488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051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70.6%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770154" y="4486025"/>
            <a:ext cx="2456879" cy="1314949"/>
            <a:chOff x="0" y="0"/>
            <a:chExt cx="2705100" cy="1447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051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69" t="0" r="-1866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7051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They </a:t>
              </a:r>
              <a:r>
                <a:rPr lang="en-US" sz="1575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relied on a sighted coworker when blocked (McDonnall et al., 2026).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6129338"/>
            <a:ext cx="3571875" cy="644739"/>
            <a:chOff x="0" y="0"/>
            <a:chExt cx="4762500" cy="8596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62500" cy="859652"/>
            </a:xfrm>
            <a:custGeom>
              <a:avLst/>
              <a:gdLst/>
              <a:ahLst/>
              <a:cxnLst/>
              <a:rect r="r" b="b" t="t" l="l"/>
              <a:pathLst>
                <a:path h="859652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859652"/>
                  </a:lnTo>
                  <a:lnTo>
                    <a:pt x="0" y="859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355" r="0" b="-3453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762500" cy="859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9"/>
                </a:lnSpc>
              </a:pPr>
              <a:r>
                <a:rPr lang="en-US" sz="2949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HOW MIGHT WE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6972300"/>
            <a:ext cx="15401925" cy="1800225"/>
            <a:chOff x="0" y="0"/>
            <a:chExt cx="20535900" cy="24003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5359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205359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20231100" y="0"/>
                  </a:lnTo>
                  <a:cubicBezTo>
                    <a:pt x="20399375" y="0"/>
                    <a:pt x="20535900" y="136398"/>
                    <a:pt x="20535900" y="304800"/>
                  </a:cubicBezTo>
                  <a:lnTo>
                    <a:pt x="20535900" y="2095500"/>
                  </a:lnTo>
                  <a:cubicBezTo>
                    <a:pt x="20535900" y="2263775"/>
                    <a:pt x="20399502" y="2400300"/>
                    <a:pt x="20231100" y="2400300"/>
                  </a:cubicBezTo>
                  <a:lnTo>
                    <a:pt x="304800" y="2400300"/>
                  </a:lnTo>
                  <a:cubicBezTo>
                    <a:pt x="136525" y="2400300"/>
                    <a:pt x="0" y="2263902"/>
                    <a:pt x="0" y="2095500"/>
                  </a:cubicBezTo>
                  <a:close/>
                </a:path>
              </a:pathLst>
            </a:custGeom>
            <a:solidFill>
              <a:srgbClr val="EAF7F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57325" y="7215188"/>
            <a:ext cx="14544675" cy="1343591"/>
            <a:chOff x="0" y="0"/>
            <a:chExt cx="19392900" cy="17914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392900" cy="1791455"/>
            </a:xfrm>
            <a:custGeom>
              <a:avLst/>
              <a:gdLst/>
              <a:ahLst/>
              <a:cxnLst/>
              <a:rect r="r" b="b" t="t" l="l"/>
              <a:pathLst>
                <a:path h="1791455" w="19392900">
                  <a:moveTo>
                    <a:pt x="0" y="0"/>
                  </a:moveTo>
                  <a:lnTo>
                    <a:pt x="19392900" y="0"/>
                  </a:lnTo>
                  <a:lnTo>
                    <a:pt x="19392900" y="1791455"/>
                  </a:lnTo>
                  <a:lnTo>
                    <a:pt x="0" y="17914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014" r="0" b="-15984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9392900" cy="1791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90"/>
                </a:lnSpc>
              </a:pPr>
              <a:r>
                <a:rPr lang="en-US" sz="2575">
                  <a:solidFill>
                    <a:srgbClr val="000054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How might we help blind or low-vision new hires learn internal-system tasks through company training materials, so they can demonstrate independent learning during probation?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5636" y="3786188"/>
            <a:ext cx="16359188" cy="6500812"/>
            <a:chOff x="0" y="0"/>
            <a:chExt cx="21812250" cy="8667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8667750"/>
            </a:xfrm>
            <a:custGeom>
              <a:avLst/>
              <a:gdLst/>
              <a:ahLst/>
              <a:cxnLst/>
              <a:rect r="r" b="b" t="t" l="l"/>
              <a:pathLst>
                <a:path h="866775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8667750"/>
                  </a:lnTo>
                  <a:lnTo>
                    <a:pt x="0" y="8667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85817" y="1949574"/>
            <a:ext cx="7255090" cy="1475081"/>
            <a:chOff x="0" y="0"/>
            <a:chExt cx="5524500" cy="11232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24500" cy="1123223"/>
            </a:xfrm>
            <a:custGeom>
              <a:avLst/>
              <a:gdLst/>
              <a:ahLst/>
              <a:cxnLst/>
              <a:rect r="r" b="b" t="t" l="l"/>
              <a:pathLst>
                <a:path h="1123223" w="5524500">
                  <a:moveTo>
                    <a:pt x="0" y="0"/>
                  </a:moveTo>
                  <a:lnTo>
                    <a:pt x="5524500" y="0"/>
                  </a:lnTo>
                  <a:lnTo>
                    <a:pt x="5524500" y="1123223"/>
                  </a:lnTo>
                  <a:lnTo>
                    <a:pt x="0" y="11232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219" r="0" b="-314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524500" cy="1132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>
                  <a:solidFill>
                    <a:srgbClr val="ED1B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ALTONOMY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2975" y="2791063"/>
            <a:ext cx="7720251" cy="1476137"/>
            <a:chOff x="0" y="0"/>
            <a:chExt cx="10293667" cy="1968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93668" cy="1968183"/>
            </a:xfrm>
            <a:custGeom>
              <a:avLst/>
              <a:gdLst/>
              <a:ahLst/>
              <a:cxnLst/>
              <a:rect r="r" b="b" t="t" l="l"/>
              <a:pathLst>
                <a:path h="1968183" w="10293668">
                  <a:moveTo>
                    <a:pt x="0" y="0"/>
                  </a:moveTo>
                  <a:lnTo>
                    <a:pt x="10293668" y="0"/>
                  </a:lnTo>
                  <a:lnTo>
                    <a:pt x="10293668" y="1968183"/>
                  </a:lnTo>
                  <a:lnTo>
                    <a:pt x="0" y="19681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550" r="-48052" b="-712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293667" cy="1968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1"/>
                </a:lnSpc>
              </a:pPr>
            </a:p>
            <a:p>
              <a:pPr algn="l" marL="323850" indent="-161925" lvl="1">
                <a:lnSpc>
                  <a:spcPts val="180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An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AI-powered app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that helps blind or low-vision employees learn unfamiliar internal systems through company-provided training materials</a:t>
              </a:r>
            </a:p>
            <a:p>
              <a:pPr algn="l">
                <a:lnSpc>
                  <a:spcPts val="275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9413" y="4076938"/>
            <a:ext cx="7376636" cy="2491341"/>
            <a:chOff x="0" y="0"/>
            <a:chExt cx="9835515" cy="33217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35515" cy="3321788"/>
            </a:xfrm>
            <a:custGeom>
              <a:avLst/>
              <a:gdLst/>
              <a:ahLst/>
              <a:cxnLst/>
              <a:rect r="r" b="b" t="t" l="l"/>
              <a:pathLst>
                <a:path h="3321788" w="9835515">
                  <a:moveTo>
                    <a:pt x="0" y="288858"/>
                  </a:moveTo>
                  <a:cubicBezTo>
                    <a:pt x="0" y="129406"/>
                    <a:pt x="103378" y="0"/>
                    <a:pt x="230759" y="0"/>
                  </a:cubicBezTo>
                  <a:lnTo>
                    <a:pt x="9604756" y="0"/>
                  </a:lnTo>
                  <a:cubicBezTo>
                    <a:pt x="9732264" y="0"/>
                    <a:pt x="9835515" y="129406"/>
                    <a:pt x="9835515" y="288858"/>
                  </a:cubicBezTo>
                  <a:lnTo>
                    <a:pt x="9835515" y="3032930"/>
                  </a:lnTo>
                  <a:cubicBezTo>
                    <a:pt x="9835515" y="3192541"/>
                    <a:pt x="9732138" y="3321788"/>
                    <a:pt x="9604756" y="3321788"/>
                  </a:cubicBezTo>
                  <a:lnTo>
                    <a:pt x="230759" y="3321788"/>
                  </a:lnTo>
                  <a:cubicBezTo>
                    <a:pt x="103378" y="3321788"/>
                    <a:pt x="0" y="3192382"/>
                    <a:pt x="0" y="3032930"/>
                  </a:cubicBez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19413" y="4086225"/>
            <a:ext cx="144474" cy="2492171"/>
            <a:chOff x="0" y="0"/>
            <a:chExt cx="152400" cy="2628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52700"/>
                  </a:lnTo>
                  <a:cubicBezTo>
                    <a:pt x="152400" y="2594737"/>
                    <a:pt x="118237" y="2628900"/>
                    <a:pt x="76200" y="2628900"/>
                  </a:cubicBezTo>
                  <a:cubicBezTo>
                    <a:pt x="34163" y="2628900"/>
                    <a:pt x="0" y="2594737"/>
                    <a:pt x="0" y="2552700"/>
                  </a:cubicBezTo>
                  <a:close/>
                </a:path>
              </a:pathLst>
            </a:custGeom>
            <a:solidFill>
              <a:srgbClr val="ED1B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663226" y="4076938"/>
            <a:ext cx="8846049" cy="2491341"/>
            <a:chOff x="0" y="0"/>
            <a:chExt cx="11794731" cy="33217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94731" cy="3321788"/>
            </a:xfrm>
            <a:custGeom>
              <a:avLst/>
              <a:gdLst/>
              <a:ahLst/>
              <a:cxnLst/>
              <a:rect r="r" b="b" t="t" l="l"/>
              <a:pathLst>
                <a:path h="3321788" w="11794731">
                  <a:moveTo>
                    <a:pt x="0" y="288858"/>
                  </a:moveTo>
                  <a:cubicBezTo>
                    <a:pt x="0" y="129406"/>
                    <a:pt x="117593" y="0"/>
                    <a:pt x="262490" y="0"/>
                  </a:cubicBezTo>
                  <a:lnTo>
                    <a:pt x="11532242" y="0"/>
                  </a:lnTo>
                  <a:cubicBezTo>
                    <a:pt x="11677283" y="0"/>
                    <a:pt x="11794731" y="129406"/>
                    <a:pt x="11794731" y="288858"/>
                  </a:cubicBezTo>
                  <a:lnTo>
                    <a:pt x="11794731" y="3032930"/>
                  </a:lnTo>
                  <a:cubicBezTo>
                    <a:pt x="11794731" y="3192541"/>
                    <a:pt x="11677139" y="3321788"/>
                    <a:pt x="11532242" y="3321788"/>
                  </a:cubicBezTo>
                  <a:lnTo>
                    <a:pt x="262490" y="3321788"/>
                  </a:lnTo>
                  <a:cubicBezTo>
                    <a:pt x="117593" y="3321788"/>
                    <a:pt x="0" y="3192382"/>
                    <a:pt x="0" y="3032930"/>
                  </a:cubicBez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672512" y="4086225"/>
            <a:ext cx="143887" cy="2482054"/>
            <a:chOff x="0" y="0"/>
            <a:chExt cx="152400" cy="26289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52700"/>
                  </a:lnTo>
                  <a:cubicBezTo>
                    <a:pt x="152400" y="2594737"/>
                    <a:pt x="118237" y="2628900"/>
                    <a:pt x="76200" y="2628900"/>
                  </a:cubicBezTo>
                  <a:cubicBezTo>
                    <a:pt x="34163" y="2628900"/>
                    <a:pt x="0" y="2594737"/>
                    <a:pt x="0" y="2552700"/>
                  </a:cubicBezTo>
                  <a:close/>
                </a:path>
              </a:pathLst>
            </a:custGeom>
            <a:solidFill>
              <a:srgbClr val="21B5E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2074" y="6663529"/>
            <a:ext cx="7376636" cy="2504045"/>
            <a:chOff x="0" y="0"/>
            <a:chExt cx="9835515" cy="33387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35514" cy="3338727"/>
            </a:xfrm>
            <a:custGeom>
              <a:avLst/>
              <a:gdLst/>
              <a:ahLst/>
              <a:cxnLst/>
              <a:rect r="r" b="b" t="t" l="l"/>
              <a:pathLst>
                <a:path h="3338727" w="9835514">
                  <a:moveTo>
                    <a:pt x="0" y="270736"/>
                  </a:moveTo>
                  <a:cubicBezTo>
                    <a:pt x="0" y="121205"/>
                    <a:pt x="103251" y="0"/>
                    <a:pt x="230632" y="0"/>
                  </a:cubicBezTo>
                  <a:lnTo>
                    <a:pt x="9604883" y="0"/>
                  </a:lnTo>
                  <a:cubicBezTo>
                    <a:pt x="9732264" y="0"/>
                    <a:pt x="9835514" y="121205"/>
                    <a:pt x="9835514" y="270736"/>
                  </a:cubicBezTo>
                  <a:lnTo>
                    <a:pt x="9835514" y="3067991"/>
                  </a:lnTo>
                  <a:cubicBezTo>
                    <a:pt x="9835514" y="3217522"/>
                    <a:pt x="9732264" y="3338727"/>
                    <a:pt x="9604883" y="3338727"/>
                  </a:cubicBezTo>
                  <a:lnTo>
                    <a:pt x="230632" y="3338727"/>
                  </a:lnTo>
                  <a:cubicBezTo>
                    <a:pt x="103251" y="3338727"/>
                    <a:pt x="0" y="3217522"/>
                    <a:pt x="0" y="3067991"/>
                  </a:cubicBez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19413" y="6663529"/>
            <a:ext cx="134852" cy="2494758"/>
            <a:chOff x="0" y="0"/>
            <a:chExt cx="152400" cy="2819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743200"/>
                  </a:lnTo>
                  <a:cubicBezTo>
                    <a:pt x="152400" y="2785237"/>
                    <a:pt x="118237" y="2819400"/>
                    <a:pt x="76200" y="2819400"/>
                  </a:cubicBezTo>
                  <a:cubicBezTo>
                    <a:pt x="34163" y="2819400"/>
                    <a:pt x="0" y="2785237"/>
                    <a:pt x="0" y="2743200"/>
                  </a:cubicBezTo>
                  <a:close/>
                </a:path>
              </a:pathLst>
            </a:custGeom>
            <a:solidFill>
              <a:srgbClr val="16D3A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665887" y="6663529"/>
            <a:ext cx="8843388" cy="2504045"/>
            <a:chOff x="0" y="0"/>
            <a:chExt cx="11791183" cy="33387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91183" cy="3338727"/>
            </a:xfrm>
            <a:custGeom>
              <a:avLst/>
              <a:gdLst/>
              <a:ahLst/>
              <a:cxnLst/>
              <a:rect r="r" b="b" t="t" l="l"/>
              <a:pathLst>
                <a:path h="3338727" w="11791183">
                  <a:moveTo>
                    <a:pt x="0" y="270736"/>
                  </a:moveTo>
                  <a:cubicBezTo>
                    <a:pt x="0" y="121205"/>
                    <a:pt x="117414" y="0"/>
                    <a:pt x="262267" y="0"/>
                  </a:cubicBezTo>
                  <a:lnTo>
                    <a:pt x="11528916" y="0"/>
                  </a:lnTo>
                  <a:cubicBezTo>
                    <a:pt x="11673770" y="0"/>
                    <a:pt x="11791183" y="121205"/>
                    <a:pt x="11791183" y="270736"/>
                  </a:cubicBezTo>
                  <a:lnTo>
                    <a:pt x="11791183" y="3067991"/>
                  </a:lnTo>
                  <a:cubicBezTo>
                    <a:pt x="11791183" y="3217522"/>
                    <a:pt x="11673770" y="3338727"/>
                    <a:pt x="11528916" y="3338727"/>
                  </a:cubicBezTo>
                  <a:lnTo>
                    <a:pt x="262267" y="3338727"/>
                  </a:lnTo>
                  <a:cubicBezTo>
                    <a:pt x="117414" y="3338727"/>
                    <a:pt x="0" y="3217522"/>
                    <a:pt x="0" y="3067991"/>
                  </a:cubicBez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675173" y="6663529"/>
            <a:ext cx="134852" cy="2494758"/>
            <a:chOff x="0" y="0"/>
            <a:chExt cx="152400" cy="2819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743200"/>
                  </a:lnTo>
                  <a:cubicBezTo>
                    <a:pt x="152400" y="2785237"/>
                    <a:pt x="118237" y="2819400"/>
                    <a:pt x="76200" y="2819400"/>
                  </a:cubicBezTo>
                  <a:cubicBezTo>
                    <a:pt x="34163" y="2819400"/>
                    <a:pt x="0" y="2785237"/>
                    <a:pt x="0" y="2743200"/>
                  </a:cubicBezTo>
                  <a:close/>
                </a:path>
              </a:pathLst>
            </a:custGeom>
            <a:solidFill>
              <a:srgbClr val="052A6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786813" y="2934445"/>
            <a:ext cx="7653099" cy="980421"/>
            <a:chOff x="0" y="0"/>
            <a:chExt cx="10204132" cy="13072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04132" cy="1307228"/>
            </a:xfrm>
            <a:custGeom>
              <a:avLst/>
              <a:gdLst/>
              <a:ahLst/>
              <a:cxnLst/>
              <a:rect r="r" b="b" t="t" l="l"/>
              <a:pathLst>
                <a:path h="1307228" w="10204132">
                  <a:moveTo>
                    <a:pt x="0" y="0"/>
                  </a:moveTo>
                  <a:lnTo>
                    <a:pt x="10204132" y="0"/>
                  </a:lnTo>
                  <a:lnTo>
                    <a:pt x="10204132" y="1307228"/>
                  </a:lnTo>
                  <a:lnTo>
                    <a:pt x="0" y="1307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558" r="-49351" b="-15776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0204132" cy="1307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</a:p>
            <a:p>
              <a:pPr algn="l" marL="323850" indent="-161925" lvl="1">
                <a:lnSpc>
                  <a:spcPts val="180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It adds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contextual guidance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while allowing employees to control and complete tasks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themselves.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5850" y="4577001"/>
            <a:ext cx="6904556" cy="1924076"/>
            <a:chOff x="0" y="0"/>
            <a:chExt cx="9206075" cy="25654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06075" cy="2565435"/>
            </a:xfrm>
            <a:custGeom>
              <a:avLst/>
              <a:gdLst/>
              <a:ahLst/>
              <a:cxnLst/>
              <a:rect r="r" b="b" t="t" l="l"/>
              <a:pathLst>
                <a:path h="2565435" w="9206075">
                  <a:moveTo>
                    <a:pt x="0" y="0"/>
                  </a:moveTo>
                  <a:lnTo>
                    <a:pt x="9206075" y="0"/>
                  </a:lnTo>
                  <a:lnTo>
                    <a:pt x="9206075" y="2565435"/>
                  </a:lnTo>
                  <a:lnTo>
                    <a:pt x="0" y="25654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57" r="-65542" b="-3134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206075" cy="257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Blind or low-vision new hires need to learn internal systems independently during probation.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Conventional training often relies on visual cues that screen readers cannot interpret.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Dependence on coworkers limits opportunities to demonstrate autonomy and capability.</a:t>
              </a:r>
            </a:p>
            <a:p>
              <a:pPr algn="l">
                <a:lnSpc>
                  <a:spcPts val="2871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-309837" y="4008146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ED1B2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93481" y="4001753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89736" y="8899233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b="true" sz="2776">
                <a:solidFill>
                  <a:srgbClr val="052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5455" y="9067866"/>
            <a:ext cx="2905674" cy="4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7"/>
              </a:lnSpc>
            </a:pPr>
            <a:r>
              <a:rPr lang="en-US" sz="2776" b="true">
                <a:solidFill>
                  <a:srgbClr val="FDEB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985817" y="4606749"/>
            <a:ext cx="8319006" cy="1476137"/>
            <a:chOff x="0" y="0"/>
            <a:chExt cx="11092008" cy="19681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92008" cy="1968183"/>
            </a:xfrm>
            <a:custGeom>
              <a:avLst/>
              <a:gdLst/>
              <a:ahLst/>
              <a:cxnLst/>
              <a:rect r="r" b="b" t="t" l="l"/>
              <a:pathLst>
                <a:path h="1968183" w="11092008">
                  <a:moveTo>
                    <a:pt x="0" y="0"/>
                  </a:moveTo>
                  <a:lnTo>
                    <a:pt x="11092008" y="0"/>
                  </a:lnTo>
                  <a:lnTo>
                    <a:pt x="11092008" y="1968183"/>
                  </a:lnTo>
                  <a:lnTo>
                    <a:pt x="0" y="19681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550" r="-37396" b="-7120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1092008" cy="1977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company uploads its existing training materials to the app.</a:t>
              </a:r>
            </a:p>
            <a:p>
              <a:pPr algn="just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AI c</a:t>
              </a: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onverts them into accessible, contextual, step-by-step guidance.</a:t>
              </a:r>
            </a:p>
            <a:p>
              <a:pPr algn="just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app interprets the live interface and connects each instruction to the relevant on-screen element.</a:t>
              </a:r>
            </a:p>
            <a:p>
              <a:pPr algn="just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Users navigate, verify and complete each action themselves.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769387" y="6663529"/>
            <a:ext cx="67426" cy="2494758"/>
            <a:chOff x="0" y="0"/>
            <a:chExt cx="76200" cy="2819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76200">
                  <a:moveTo>
                    <a:pt x="0" y="76200"/>
                  </a:moveTo>
                  <a:cubicBezTo>
                    <a:pt x="0" y="34163"/>
                    <a:pt x="17082" y="0"/>
                    <a:pt x="38100" y="0"/>
                  </a:cubicBezTo>
                  <a:cubicBezTo>
                    <a:pt x="59119" y="0"/>
                    <a:pt x="76200" y="34163"/>
                    <a:pt x="76200" y="76200"/>
                  </a:cubicBezTo>
                  <a:lnTo>
                    <a:pt x="76200" y="2743200"/>
                  </a:lnTo>
                  <a:cubicBezTo>
                    <a:pt x="76200" y="2785237"/>
                    <a:pt x="59119" y="2819400"/>
                    <a:pt x="38100" y="2819400"/>
                  </a:cubicBezTo>
                  <a:cubicBezTo>
                    <a:pt x="17082" y="2819400"/>
                    <a:pt x="0" y="2785237"/>
                    <a:pt x="0" y="2743200"/>
                  </a:cubicBezTo>
                  <a:close/>
                </a:path>
              </a:pathLst>
            </a:custGeom>
            <a:solidFill>
              <a:srgbClr val="16D3A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70746" y="6766179"/>
            <a:ext cx="3384341" cy="2876576"/>
            <a:chOff x="0" y="0"/>
            <a:chExt cx="4512455" cy="383543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2455" cy="3835435"/>
            </a:xfrm>
            <a:custGeom>
              <a:avLst/>
              <a:gdLst/>
              <a:ahLst/>
              <a:cxnLst/>
              <a:rect r="r" b="b" t="t" l="l"/>
              <a:pathLst>
                <a:path h="3835435" w="4512455">
                  <a:moveTo>
                    <a:pt x="0" y="0"/>
                  </a:moveTo>
                  <a:lnTo>
                    <a:pt x="4512455" y="0"/>
                  </a:lnTo>
                  <a:lnTo>
                    <a:pt x="4512455" y="3835435"/>
                  </a:lnTo>
                  <a:lnTo>
                    <a:pt x="0" y="38354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92" r="-237731" b="1214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512455" cy="384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For visual - impaired employees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Learn unfamiliar systems with less trial and error.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Reduce depe</a:t>
              </a: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ndence on sighted coworkers.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Demonstrate independent learning during probation.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</a:t>
              </a: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etain control over every important action.</a:t>
              </a:r>
            </a:p>
            <a:p>
              <a:pPr algn="l">
                <a:lnSpc>
                  <a:spcPts val="1919"/>
                </a:lnSpc>
              </a:pPr>
            </a:p>
            <a:p>
              <a:pPr algn="l">
                <a:lnSpc>
                  <a:spcPts val="2871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29151" y="6766179"/>
            <a:ext cx="3369559" cy="2011883"/>
            <a:chOff x="0" y="0"/>
            <a:chExt cx="4492746" cy="26825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92746" cy="2682511"/>
            </a:xfrm>
            <a:custGeom>
              <a:avLst/>
              <a:gdLst/>
              <a:ahLst/>
              <a:cxnLst/>
              <a:rect r="r" b="b" t="t" l="l"/>
              <a:pathLst>
                <a:path h="2682511" w="4492746">
                  <a:moveTo>
                    <a:pt x="0" y="0"/>
                  </a:moveTo>
                  <a:lnTo>
                    <a:pt x="4492746" y="0"/>
                  </a:lnTo>
                  <a:lnTo>
                    <a:pt x="4492746" y="2682511"/>
                  </a:lnTo>
                  <a:lnTo>
                    <a:pt x="0" y="2682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786" r="-239213" b="-2561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492746" cy="269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For companies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Accelerate accessible onboarding.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Reduce repetitive support from coworkers and HR.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Extend the usability of existing systems without immediate replacement.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943375" y="6766179"/>
            <a:ext cx="3472967" cy="2386203"/>
            <a:chOff x="0" y="0"/>
            <a:chExt cx="4630623" cy="31816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30623" cy="3181604"/>
            </a:xfrm>
            <a:custGeom>
              <a:avLst/>
              <a:gdLst/>
              <a:ahLst/>
              <a:cxnLst/>
              <a:rect r="r" b="b" t="t" l="l"/>
              <a:pathLst>
                <a:path h="3181604" w="4630623">
                  <a:moveTo>
                    <a:pt x="0" y="0"/>
                  </a:moveTo>
                  <a:lnTo>
                    <a:pt x="4630623" y="0"/>
                  </a:lnTo>
                  <a:lnTo>
                    <a:pt x="4630623" y="3181604"/>
                  </a:lnTo>
                  <a:lnTo>
                    <a:pt x="0" y="3181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760" r="-229113" b="-590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630623" cy="3181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80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Current alternatives</a:t>
              </a:r>
            </a:p>
            <a:p>
              <a:pPr algn="just" marL="323850" indent="-161925" lvl="1">
                <a:lnSpc>
                  <a:spcPts val="1800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Screen readers: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Read accessible labels and text but cannot reliably interpret unlabelled or visually dependent elements.</a:t>
              </a:r>
            </a:p>
            <a:p>
              <a:pPr algn="just" marL="323850" indent="-161925" lvl="1">
                <a:lnSpc>
                  <a:spcPts val="1800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Coworker assistance: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Resolves immediate blockers but creates dependence and interrupts both employees’ work.</a:t>
              </a:r>
            </a:p>
            <a:p>
              <a:pPr algn="just">
                <a:lnSpc>
                  <a:spcPts val="180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549692" y="6663529"/>
            <a:ext cx="63670" cy="2504045"/>
            <a:chOff x="0" y="0"/>
            <a:chExt cx="71689" cy="2819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1689" cy="2819400"/>
            </a:xfrm>
            <a:custGeom>
              <a:avLst/>
              <a:gdLst/>
              <a:ahLst/>
              <a:cxnLst/>
              <a:rect r="r" b="b" t="t" l="l"/>
              <a:pathLst>
                <a:path h="2819400" w="71689">
                  <a:moveTo>
                    <a:pt x="0" y="76200"/>
                  </a:moveTo>
                  <a:cubicBezTo>
                    <a:pt x="0" y="34163"/>
                    <a:pt x="16070" y="0"/>
                    <a:pt x="35844" y="0"/>
                  </a:cubicBezTo>
                  <a:cubicBezTo>
                    <a:pt x="55618" y="0"/>
                    <a:pt x="71689" y="34163"/>
                    <a:pt x="71689" y="76200"/>
                  </a:cubicBezTo>
                  <a:lnTo>
                    <a:pt x="71689" y="2743200"/>
                  </a:lnTo>
                  <a:cubicBezTo>
                    <a:pt x="71689" y="2785237"/>
                    <a:pt x="55618" y="2819400"/>
                    <a:pt x="35844" y="2819400"/>
                  </a:cubicBezTo>
                  <a:cubicBezTo>
                    <a:pt x="16070" y="2819400"/>
                    <a:pt x="0" y="2785237"/>
                    <a:pt x="0" y="2743200"/>
                  </a:cubicBezTo>
                  <a:close/>
                </a:path>
              </a:pathLst>
            </a:custGeom>
            <a:solidFill>
              <a:srgbClr val="052A6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727662" y="6834979"/>
            <a:ext cx="4531638" cy="2488133"/>
            <a:chOff x="0" y="0"/>
            <a:chExt cx="6042184" cy="33175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42184" cy="3317511"/>
            </a:xfrm>
            <a:custGeom>
              <a:avLst/>
              <a:gdLst/>
              <a:ahLst/>
              <a:cxnLst/>
              <a:rect r="r" b="b" t="t" l="l"/>
              <a:pathLst>
                <a:path h="3317511" w="6042184">
                  <a:moveTo>
                    <a:pt x="0" y="0"/>
                  </a:moveTo>
                  <a:lnTo>
                    <a:pt x="6042184" y="0"/>
                  </a:lnTo>
                  <a:lnTo>
                    <a:pt x="6042184" y="3317511"/>
                  </a:lnTo>
                  <a:lnTo>
                    <a:pt x="0" y="3317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451" r="-152226" b="-156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6042184" cy="3327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919"/>
                </a:lnSpc>
              </a:pPr>
              <a:r>
                <a:rPr lang="en-US" sz="1599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Point of difference of ALTONOMY</a:t>
              </a:r>
            </a:p>
            <a:p>
              <a:pPr algn="just" marL="345439" indent="-172720" lvl="1">
                <a:lnSpc>
                  <a:spcPts val="1919"/>
                </a:lnSpc>
                <a:buAutoNum type="arabicPeriod" startAt="1"/>
              </a:pPr>
              <a:r>
                <a:rPr lang="en-US" b="true" sz="15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Faster self-</a:t>
              </a:r>
              <a:r>
                <a:rPr lang="en-US" b="true" sz="15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learning during onboarding</a:t>
              </a:r>
            </a:p>
            <a:p>
              <a:pPr algn="just">
                <a:lnSpc>
                  <a:spcPts val="1919"/>
                </a:lnSpc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</a:t>
              </a: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educing manual exploration with a screen reader during probation</a:t>
              </a:r>
            </a:p>
            <a:p>
              <a:pPr algn="just" marL="345439" indent="-172720" lvl="1">
                <a:lnSpc>
                  <a:spcPts val="1919"/>
                </a:lnSpc>
                <a:buAutoNum type="arabicPeriod" startAt="1"/>
              </a:pPr>
              <a:r>
                <a:rPr lang="en-US" b="true" sz="15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Support beyond screen-reader limits</a:t>
              </a:r>
            </a:p>
            <a:p>
              <a:pPr algn="just">
                <a:lnSpc>
                  <a:spcPts val="1919"/>
                </a:lnSpc>
              </a:pPr>
              <a:r>
                <a:rPr lang="en-US" sz="15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Interprets and explains interface elements that current screen readers cannot identify or access</a:t>
              </a:r>
            </a:p>
            <a:p>
              <a:pPr algn="just">
                <a:lnSpc>
                  <a:spcPts val="1919"/>
                </a:lnSpc>
              </a:pPr>
            </a:p>
            <a:p>
              <a:pPr algn="just">
                <a:lnSpc>
                  <a:spcPts val="191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343275"/>
            <a:ext cx="5572125" cy="342900"/>
            <a:chOff x="0" y="0"/>
            <a:chExt cx="74295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9500" cy="457200"/>
            </a:xfrm>
            <a:custGeom>
              <a:avLst/>
              <a:gdLst/>
              <a:ahLst/>
              <a:cxnLst/>
              <a:rect r="r" b="b" t="t" l="l"/>
              <a:pathLst>
                <a:path h="4572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429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END-TO-END LEARNING FLOW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343085" y="3889656"/>
            <a:ext cx="4204739" cy="5368644"/>
          </a:xfrm>
          <a:custGeom>
            <a:avLst/>
            <a:gdLst/>
            <a:ahLst/>
            <a:cxnLst/>
            <a:rect r="r" b="b" t="t" l="l"/>
            <a:pathLst>
              <a:path h="5368644" w="4204739">
                <a:moveTo>
                  <a:pt x="0" y="0"/>
                </a:moveTo>
                <a:lnTo>
                  <a:pt x="4204739" y="0"/>
                </a:lnTo>
                <a:lnTo>
                  <a:pt x="4204739" y="5368644"/>
                </a:lnTo>
                <a:lnTo>
                  <a:pt x="0" y="5368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48168" y="3600450"/>
            <a:ext cx="10338882" cy="1237345"/>
            <a:chOff x="0" y="0"/>
            <a:chExt cx="2722998" cy="3258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2998" cy="325885"/>
            </a:xfrm>
            <a:custGeom>
              <a:avLst/>
              <a:gdLst/>
              <a:ahLst/>
              <a:cxnLst/>
              <a:rect r="r" b="b" t="t" l="l"/>
              <a:pathLst>
                <a:path h="325885" w="2722998">
                  <a:moveTo>
                    <a:pt x="0" y="0"/>
                  </a:moveTo>
                  <a:lnTo>
                    <a:pt x="2722998" y="0"/>
                  </a:lnTo>
                  <a:lnTo>
                    <a:pt x="2722998" y="325885"/>
                  </a:lnTo>
                  <a:lnTo>
                    <a:pt x="0" y="325885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722998" cy="335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3889656"/>
            <a:ext cx="8848714" cy="5368644"/>
          </a:xfrm>
          <a:custGeom>
            <a:avLst/>
            <a:gdLst/>
            <a:ahLst/>
            <a:cxnLst/>
            <a:rect r="r" b="b" t="t" l="l"/>
            <a:pathLst>
              <a:path h="5368644" w="8848714">
                <a:moveTo>
                  <a:pt x="0" y="0"/>
                </a:moveTo>
                <a:lnTo>
                  <a:pt x="8848714" y="0"/>
                </a:lnTo>
                <a:lnTo>
                  <a:pt x="8848714" y="5368644"/>
                </a:lnTo>
                <a:lnTo>
                  <a:pt x="0" y="5368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73" t="-7368" r="-5474" b="-815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314700"/>
            <a:ext cx="4714875" cy="342900"/>
            <a:chOff x="0" y="0"/>
            <a:chExt cx="62865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86500" cy="457200"/>
            </a:xfrm>
            <a:custGeom>
              <a:avLst/>
              <a:gdLst/>
              <a:ahLst/>
              <a:cxnLst/>
              <a:rect r="r" b="b" t="t" l="l"/>
              <a:pathLst>
                <a:path h="457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286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GUIDANCE-IN-CONTEXT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92023" y="4837795"/>
            <a:ext cx="5322989" cy="4629274"/>
            <a:chOff x="0" y="0"/>
            <a:chExt cx="7097319" cy="61723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46444" y="0"/>
              <a:ext cx="4604430" cy="4968321"/>
            </a:xfrm>
            <a:custGeom>
              <a:avLst/>
              <a:gdLst/>
              <a:ahLst/>
              <a:cxnLst/>
              <a:rect r="r" b="b" t="t" l="l"/>
              <a:pathLst>
                <a:path h="4968321" w="4604430">
                  <a:moveTo>
                    <a:pt x="0" y="0"/>
                  </a:moveTo>
                  <a:lnTo>
                    <a:pt x="4604431" y="0"/>
                  </a:lnTo>
                  <a:lnTo>
                    <a:pt x="4604431" y="4968321"/>
                  </a:lnTo>
                  <a:lnTo>
                    <a:pt x="0" y="4968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746007" y="582397"/>
              <a:ext cx="603391" cy="648808"/>
            </a:xfrm>
            <a:custGeom>
              <a:avLst/>
              <a:gdLst/>
              <a:ahLst/>
              <a:cxnLst/>
              <a:rect r="r" b="b" t="t" l="l"/>
              <a:pathLst>
                <a:path h="648808" w="603391">
                  <a:moveTo>
                    <a:pt x="0" y="0"/>
                  </a:moveTo>
                  <a:lnTo>
                    <a:pt x="603391" y="0"/>
                  </a:lnTo>
                  <a:lnTo>
                    <a:pt x="603391" y="648808"/>
                  </a:lnTo>
                  <a:lnTo>
                    <a:pt x="0" y="648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1560628" y="1710766"/>
              <a:ext cx="974150" cy="194830"/>
            </a:xfrm>
            <a:custGeom>
              <a:avLst/>
              <a:gdLst/>
              <a:ahLst/>
              <a:cxnLst/>
              <a:rect r="r" b="b" t="t" l="l"/>
              <a:pathLst>
                <a:path h="194830" w="974150">
                  <a:moveTo>
                    <a:pt x="0" y="0"/>
                  </a:moveTo>
                  <a:lnTo>
                    <a:pt x="974149" y="0"/>
                  </a:lnTo>
                  <a:lnTo>
                    <a:pt x="974149" y="194830"/>
                  </a:lnTo>
                  <a:lnTo>
                    <a:pt x="0" y="194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0" y="5245220"/>
              <a:ext cx="7097319" cy="927145"/>
              <a:chOff x="0" y="0"/>
              <a:chExt cx="6777247" cy="8853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777247" cy="885333"/>
              </a:xfrm>
              <a:custGeom>
                <a:avLst/>
                <a:gdLst/>
                <a:ahLst/>
                <a:cxnLst/>
                <a:rect r="r" b="b" t="t" l="l"/>
                <a:pathLst>
                  <a:path h="885333" w="6777247">
                    <a:moveTo>
                      <a:pt x="0" y="0"/>
                    </a:moveTo>
                    <a:lnTo>
                      <a:pt x="6777247" y="0"/>
                    </a:lnTo>
                    <a:lnTo>
                      <a:pt x="6777247" y="885333"/>
                    </a:lnTo>
                    <a:lnTo>
                      <a:pt x="0" y="88533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14148" r="-88328" b="-347667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6777247" cy="8853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71"/>
                  </a:lnSpc>
                </a:pPr>
                <a:r>
                  <a:rPr lang="en-US" sz="2726">
                    <a:solidFill>
                      <a:srgbClr val="000054"/>
                    </a:solidFill>
                    <a:latin typeface="Aptos"/>
                    <a:ea typeface="Aptos"/>
                    <a:cs typeface="Aptos"/>
                    <a:sym typeface="Aptos"/>
                  </a:rPr>
                  <a:t>Altonomy: Learning with guidance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348168" y="3600450"/>
            <a:ext cx="10338882" cy="1237345"/>
            <a:chOff x="0" y="0"/>
            <a:chExt cx="2722998" cy="3258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22998" cy="325885"/>
            </a:xfrm>
            <a:custGeom>
              <a:avLst/>
              <a:gdLst/>
              <a:ahLst/>
              <a:cxnLst/>
              <a:rect r="r" b="b" t="t" l="l"/>
              <a:pathLst>
                <a:path h="325885" w="2722998">
                  <a:moveTo>
                    <a:pt x="0" y="0"/>
                  </a:moveTo>
                  <a:lnTo>
                    <a:pt x="2722998" y="0"/>
                  </a:lnTo>
                  <a:lnTo>
                    <a:pt x="2722998" y="325885"/>
                  </a:lnTo>
                  <a:lnTo>
                    <a:pt x="0" y="325885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722998" cy="335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3657600"/>
            <a:ext cx="14386313" cy="664000"/>
            <a:chOff x="0" y="0"/>
            <a:chExt cx="19181750" cy="885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181750" cy="885333"/>
            </a:xfrm>
            <a:custGeom>
              <a:avLst/>
              <a:gdLst/>
              <a:ahLst/>
              <a:cxnLst/>
              <a:rect r="r" b="b" t="t" l="l"/>
              <a:pathLst>
                <a:path h="885333" w="19181750">
                  <a:moveTo>
                    <a:pt x="0" y="0"/>
                  </a:moveTo>
                  <a:lnTo>
                    <a:pt x="19181750" y="0"/>
                  </a:lnTo>
                  <a:lnTo>
                    <a:pt x="19181750" y="885333"/>
                  </a:lnTo>
                  <a:lnTo>
                    <a:pt x="0" y="885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148" r="33460" b="-3476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181750" cy="885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1"/>
                </a:lnSpc>
              </a:pP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Screen 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reade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rs 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pro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v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i</a:t>
              </a:r>
              <a:r>
                <a:rPr lang="en-US" sz="2726">
                  <a:solidFill>
                    <a:srgbClr val="000054"/>
                  </a:solidFill>
                  <a:latin typeface="Aptos"/>
                  <a:ea typeface="Aptos"/>
                  <a:cs typeface="Aptos"/>
                  <a:sym typeface="Aptos"/>
                </a:rPr>
                <a:t>de access to interfaces. Our AI provides guidance through workflows.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31844" y="4837795"/>
            <a:ext cx="6001258" cy="4605374"/>
            <a:chOff x="0" y="0"/>
            <a:chExt cx="8001678" cy="61404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2942" y="0"/>
              <a:ext cx="4635794" cy="5002163"/>
            </a:xfrm>
            <a:custGeom>
              <a:avLst/>
              <a:gdLst/>
              <a:ahLst/>
              <a:cxnLst/>
              <a:rect r="r" b="b" t="t" l="l"/>
              <a:pathLst>
                <a:path h="5002163" w="4635794">
                  <a:moveTo>
                    <a:pt x="0" y="0"/>
                  </a:moveTo>
                  <a:lnTo>
                    <a:pt x="4635794" y="0"/>
                  </a:lnTo>
                  <a:lnTo>
                    <a:pt x="4635794" y="5002163"/>
                  </a:lnTo>
                  <a:lnTo>
                    <a:pt x="0" y="5002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0" y="5213353"/>
              <a:ext cx="8001678" cy="927145"/>
              <a:chOff x="0" y="0"/>
              <a:chExt cx="7640821" cy="8853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640821" cy="885333"/>
              </a:xfrm>
              <a:custGeom>
                <a:avLst/>
                <a:gdLst/>
                <a:ahLst/>
                <a:cxnLst/>
                <a:rect r="r" b="b" t="t" l="l"/>
                <a:pathLst>
                  <a:path h="885333" w="7640821">
                    <a:moveTo>
                      <a:pt x="0" y="0"/>
                    </a:moveTo>
                    <a:lnTo>
                      <a:pt x="7640821" y="0"/>
                    </a:lnTo>
                    <a:lnTo>
                      <a:pt x="7640821" y="885333"/>
                    </a:lnTo>
                    <a:lnTo>
                      <a:pt x="0" y="88533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14148" r="-67043" b="-347667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7640821" cy="8853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71"/>
                  </a:lnSpc>
                </a:pPr>
                <a:r>
                  <a:rPr lang="en-US" sz="2726">
                    <a:solidFill>
                      <a:srgbClr val="000054"/>
                    </a:solidFill>
                    <a:latin typeface="Aptos"/>
                    <a:ea typeface="Aptos"/>
                    <a:cs typeface="Aptos"/>
                    <a:sym typeface="Aptos"/>
                  </a:rPr>
                  <a:t>Screen Readers: Explore on Your Own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" y="1928812"/>
            <a:ext cx="16359188" cy="7715250"/>
            <a:chOff x="0" y="0"/>
            <a:chExt cx="2181225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857250"/>
            <a:ext cx="7429500" cy="342900"/>
            <a:chOff x="0" y="0"/>
            <a:chExt cx="99060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906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APPENDIX  |  CONTEXT AND EVIDENCE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2975" y="3001609"/>
            <a:ext cx="4229100" cy="568263"/>
            <a:chOff x="0" y="0"/>
            <a:chExt cx="5638800" cy="7576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38800" cy="757684"/>
            </a:xfrm>
            <a:custGeom>
              <a:avLst/>
              <a:gdLst/>
              <a:ahLst/>
              <a:cxnLst/>
              <a:rect r="r" b="b" t="t" l="l"/>
              <a:pathLst>
                <a:path h="757684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757684"/>
                  </a:lnTo>
                  <a:lnTo>
                    <a:pt x="0" y="7576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811" r="0" b="-802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638800" cy="757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opportunity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975" y="3569872"/>
            <a:ext cx="10055672" cy="1175626"/>
            <a:chOff x="0" y="0"/>
            <a:chExt cx="13407562" cy="15675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07561" cy="1567501"/>
            </a:xfrm>
            <a:custGeom>
              <a:avLst/>
              <a:gdLst/>
              <a:ahLst/>
              <a:cxnLst/>
              <a:rect r="r" b="b" t="t" l="l"/>
              <a:pathLst>
                <a:path h="1567501" w="13407561">
                  <a:moveTo>
                    <a:pt x="0" y="0"/>
                  </a:moveTo>
                  <a:lnTo>
                    <a:pt x="13407561" y="0"/>
                  </a:lnTo>
                  <a:lnTo>
                    <a:pt x="13407561" y="1567501"/>
                  </a:lnTo>
                  <a:lnTo>
                    <a:pt x="0" y="1567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493" t="0" r="53449" b="-701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3407562" cy="1577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909"/>
                </a:lnSpc>
              </a:pPr>
              <a:r>
                <a:rPr lang="en-US" sz="2424">
                  <a:solidFill>
                    <a:srgbClr val="1C2530"/>
                  </a:solidFill>
                  <a:latin typeface="Aptos"/>
                  <a:ea typeface="Aptos"/>
                  <a:cs typeface="Aptos"/>
                  <a:sym typeface="Aptos"/>
                </a:rPr>
                <a:t>Digital transformation can expand </a:t>
              </a:r>
              <a:r>
                <a:rPr lang="en-US" sz="2424" b="true">
                  <a:solidFill>
                    <a:srgbClr val="1C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employment opportunities </a:t>
              </a:r>
              <a:r>
                <a:rPr lang="en-US" sz="2424">
                  <a:solidFill>
                    <a:srgbClr val="1C2530"/>
                  </a:solidFill>
                  <a:latin typeface="Aptos"/>
                  <a:ea typeface="Aptos"/>
                  <a:cs typeface="Aptos"/>
                  <a:sym typeface="Aptos"/>
                </a:rPr>
                <a:t>for people with </a:t>
              </a:r>
              <a:r>
                <a:rPr lang="en-US" sz="2424" b="true">
                  <a:solidFill>
                    <a:srgbClr val="1C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disabilities</a:t>
              </a:r>
              <a:r>
                <a:rPr lang="en-US" sz="2424">
                  <a:solidFill>
                    <a:srgbClr val="1C2530"/>
                  </a:solidFill>
                  <a:latin typeface="Aptos"/>
                  <a:ea typeface="Aptos"/>
                  <a:cs typeface="Aptos"/>
                  <a:sym typeface="Aptos"/>
                </a:rPr>
                <a:t> through remote work, digital occupations, and </a:t>
              </a:r>
              <a:r>
                <a:rPr lang="en-US" sz="2424" b="true">
                  <a:solidFill>
                    <a:srgbClr val="1C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assistive technologies </a:t>
              </a:r>
              <a:r>
                <a:rPr lang="en-US" sz="2424">
                  <a:solidFill>
                    <a:srgbClr val="1C2530"/>
                  </a:solidFill>
                  <a:latin typeface="Aptos"/>
                  <a:ea typeface="Aptos"/>
                  <a:cs typeface="Aptos"/>
                  <a:sym typeface="Aptos"/>
                </a:rPr>
                <a:t>(Trần, 2026).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2975" y="1490781"/>
            <a:ext cx="16683316" cy="1177323"/>
            <a:chOff x="0" y="0"/>
            <a:chExt cx="22244421" cy="15697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44422" cy="1569764"/>
            </a:xfrm>
            <a:custGeom>
              <a:avLst/>
              <a:gdLst/>
              <a:ahLst/>
              <a:cxnLst/>
              <a:rect r="r" b="b" t="t" l="l"/>
              <a:pathLst>
                <a:path h="1569764" w="22244422">
                  <a:moveTo>
                    <a:pt x="0" y="0"/>
                  </a:moveTo>
                  <a:lnTo>
                    <a:pt x="22244422" y="0"/>
                  </a:lnTo>
                  <a:lnTo>
                    <a:pt x="22244422" y="1569764"/>
                  </a:lnTo>
                  <a:lnTo>
                    <a:pt x="0" y="15697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352" r="13504" b="-1813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2244421" cy="156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052A6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work opens the gate but inaccessible systems gatekeep autonomy</a:t>
              </a:r>
            </a:p>
            <a:p>
              <a:pPr algn="l">
                <a:lnSpc>
                  <a:spcPts val="41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975" y="4977752"/>
            <a:ext cx="10541219" cy="568263"/>
            <a:chOff x="0" y="0"/>
            <a:chExt cx="14054959" cy="7576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054959" cy="757684"/>
            </a:xfrm>
            <a:custGeom>
              <a:avLst/>
              <a:gdLst/>
              <a:ahLst/>
              <a:cxnLst/>
              <a:rect r="r" b="b" t="t" l="l"/>
              <a:pathLst>
                <a:path h="757684" w="14054959">
                  <a:moveTo>
                    <a:pt x="0" y="0"/>
                  </a:moveTo>
                  <a:lnTo>
                    <a:pt x="14054959" y="0"/>
                  </a:lnTo>
                  <a:lnTo>
                    <a:pt x="14054959" y="757684"/>
                  </a:lnTo>
                  <a:lnTo>
                    <a:pt x="0" y="7576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811" r="59880" b="-802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054959" cy="757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But more opportunities don’t mean there is no difficulty..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2975" y="5261884"/>
            <a:ext cx="10055672" cy="2023507"/>
            <a:chOff x="0" y="0"/>
            <a:chExt cx="13407562" cy="26980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07561" cy="2698010"/>
            </a:xfrm>
            <a:custGeom>
              <a:avLst/>
              <a:gdLst/>
              <a:ahLst/>
              <a:cxnLst/>
              <a:rect r="r" b="b" t="t" l="l"/>
              <a:pathLst>
                <a:path h="2698010" w="13407561">
                  <a:moveTo>
                    <a:pt x="0" y="0"/>
                  </a:moveTo>
                  <a:lnTo>
                    <a:pt x="13407561" y="0"/>
                  </a:lnTo>
                  <a:lnTo>
                    <a:pt x="13407561" y="2698010"/>
                  </a:lnTo>
                  <a:lnTo>
                    <a:pt x="0" y="26980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493" t="0" r="53449" b="11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3407562" cy="2707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909"/>
                </a:lnSpc>
              </a:pPr>
              <a:r>
                <a:rPr lang="en-US" sz="2424">
                  <a:solidFill>
                    <a:srgbClr val="1C2530"/>
                  </a:solidFill>
                  <a:latin typeface="Aptos"/>
                  <a:ea typeface="Aptos"/>
                  <a:cs typeface="Aptos"/>
                  <a:sym typeface="Aptos"/>
                </a:rPr>
                <a:t>Among employed screen-reader users in a study, </a:t>
              </a:r>
              <a:r>
                <a:rPr lang="en-US" sz="2424" b="true">
                  <a:solidFill>
                    <a:srgbClr val="1C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57.5%</a:t>
              </a:r>
              <a:r>
                <a:rPr lang="en-US" sz="2424">
                  <a:solidFill>
                    <a:srgbClr val="1C2530"/>
                  </a:solidFill>
                  <a:latin typeface="Aptos"/>
                  <a:ea typeface="Aptos"/>
                  <a:cs typeface="Aptos"/>
                  <a:sym typeface="Aptos"/>
                </a:rPr>
                <a:t> encountered inaccessible workplace software; when this occurred, </a:t>
              </a:r>
              <a:r>
                <a:rPr lang="en-US" sz="2424" b="true">
                  <a:solidFill>
                    <a:srgbClr val="1C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70.6%</a:t>
              </a:r>
              <a:r>
                <a:rPr lang="en-US" sz="2424">
                  <a:solidFill>
                    <a:srgbClr val="1C2530"/>
                  </a:solidFill>
                  <a:latin typeface="Aptos"/>
                  <a:ea typeface="Aptos"/>
                  <a:cs typeface="Aptos"/>
                  <a:sym typeface="Aptos"/>
                </a:rPr>
                <a:t> relied on a sighted coworker to complete their tasks (McDonnall et al., 2026).</a:t>
              </a:r>
            </a:p>
            <a:p>
              <a:pPr algn="just">
                <a:lnSpc>
                  <a:spcPts val="290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" y="1948625"/>
            <a:ext cx="10055672" cy="829897"/>
            <a:chOff x="0" y="0"/>
            <a:chExt cx="13407562" cy="1106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07561" cy="1106530"/>
            </a:xfrm>
            <a:custGeom>
              <a:avLst/>
              <a:gdLst/>
              <a:ahLst/>
              <a:cxnLst/>
              <a:rect r="r" b="b" t="t" l="l"/>
              <a:pathLst>
                <a:path h="1106530" w="13407561">
                  <a:moveTo>
                    <a:pt x="0" y="0"/>
                  </a:moveTo>
                  <a:lnTo>
                    <a:pt x="13407561" y="0"/>
                  </a:lnTo>
                  <a:lnTo>
                    <a:pt x="13407561" y="1106530"/>
                  </a:lnTo>
                  <a:lnTo>
                    <a:pt x="0" y="11065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493" t="0" r="53449" b="-14102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3407562" cy="1116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909"/>
                </a:lnSpc>
              </a:pPr>
              <a:r>
                <a:rPr lang="en-US" sz="2424" i="true">
                  <a:solidFill>
                    <a:srgbClr val="1C2530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Why this solution matters?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16767" y="5951445"/>
            <a:ext cx="6994341" cy="3692618"/>
            <a:chOff x="0" y="0"/>
            <a:chExt cx="1083607" cy="5720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3607" cy="572083"/>
            </a:xfrm>
            <a:custGeom>
              <a:avLst/>
              <a:gdLst/>
              <a:ahLst/>
              <a:cxnLst/>
              <a:rect r="r" b="b" t="t" l="l"/>
              <a:pathLst>
                <a:path h="572083" w="1083607">
                  <a:moveTo>
                    <a:pt x="0" y="0"/>
                  </a:moveTo>
                  <a:lnTo>
                    <a:pt x="1083607" y="0"/>
                  </a:lnTo>
                  <a:lnTo>
                    <a:pt x="1083607" y="572083"/>
                  </a:lnTo>
                  <a:lnTo>
                    <a:pt x="0" y="572083"/>
                  </a:lnTo>
                  <a:close/>
                </a:path>
              </a:pathLst>
            </a:custGeom>
            <a:blipFill>
              <a:blip r:embed="rId5"/>
              <a:stretch>
                <a:fillRect l="-63" t="0" r="-63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821331" y="2207408"/>
            <a:ext cx="6994341" cy="3692618"/>
            <a:chOff x="0" y="0"/>
            <a:chExt cx="1083607" cy="5720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3607" cy="572083"/>
            </a:xfrm>
            <a:custGeom>
              <a:avLst/>
              <a:gdLst/>
              <a:ahLst/>
              <a:cxnLst/>
              <a:rect r="r" b="b" t="t" l="l"/>
              <a:pathLst>
                <a:path h="572083" w="1083607">
                  <a:moveTo>
                    <a:pt x="0" y="0"/>
                  </a:moveTo>
                  <a:lnTo>
                    <a:pt x="1083607" y="0"/>
                  </a:lnTo>
                  <a:lnTo>
                    <a:pt x="1083607" y="572083"/>
                  </a:lnTo>
                  <a:lnTo>
                    <a:pt x="0" y="572083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627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8700" y="9502094"/>
            <a:ext cx="10140607" cy="1482663"/>
            <a:chOff x="0" y="0"/>
            <a:chExt cx="13520810" cy="19768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20810" cy="1976884"/>
            </a:xfrm>
            <a:custGeom>
              <a:avLst/>
              <a:gdLst/>
              <a:ahLst/>
              <a:cxnLst/>
              <a:rect r="r" b="b" t="t" l="l"/>
              <a:pathLst>
                <a:path h="1976884" w="13520810">
                  <a:moveTo>
                    <a:pt x="0" y="0"/>
                  </a:moveTo>
                  <a:lnTo>
                    <a:pt x="13520810" y="0"/>
                  </a:lnTo>
                  <a:lnTo>
                    <a:pt x="13520810" y="1976884"/>
                  </a:lnTo>
                  <a:lnTo>
                    <a:pt x="0" y="19768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087" r="58295" b="309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3520810" cy="1976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700" y="7228241"/>
            <a:ext cx="10455494" cy="156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966" b="true">
                <a:solidFill>
                  <a:srgbClr val="ED1B2F"/>
                </a:solidFill>
                <a:latin typeface="Be Vietnam Pro Bold"/>
                <a:ea typeface="Be Vietnam Pro Bold"/>
                <a:cs typeface="Be Vietnam Pro Bold"/>
                <a:sym typeface="Be Vietnam Pro Bold"/>
              </a:rPr>
              <a:t>They can listen to the training - but when the workplace system won’t speak to their screen reader, how can they learn by doing?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9510" y="1727998"/>
            <a:ext cx="17310168" cy="8163747"/>
            <a:chOff x="0" y="0"/>
            <a:chExt cx="2181225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57338"/>
            <a:ext cx="7429500" cy="342900"/>
            <a:chOff x="0" y="0"/>
            <a:chExt cx="99060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906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APPENDIX  | 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631713"/>
            <a:ext cx="15144750" cy="782749"/>
            <a:chOff x="0" y="0"/>
            <a:chExt cx="20193000" cy="10436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93000" cy="1043666"/>
            </a:xfrm>
            <a:custGeom>
              <a:avLst/>
              <a:gdLst/>
              <a:ahLst/>
              <a:cxnLst/>
              <a:rect r="r" b="b" t="t" l="l"/>
              <a:pathLst>
                <a:path h="1043666" w="20193000">
                  <a:moveTo>
                    <a:pt x="0" y="0"/>
                  </a:moveTo>
                  <a:lnTo>
                    <a:pt x="20193000" y="0"/>
                  </a:lnTo>
                  <a:lnTo>
                    <a:pt x="20193000" y="1043666"/>
                  </a:lnTo>
                  <a:lnTo>
                    <a:pt x="0" y="1043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716" r="0" b="-3262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0193000" cy="1034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994"/>
                </a:lnSpc>
                <a:spcBef>
                  <a:spcPct val="0"/>
                </a:spcBef>
              </a:pPr>
              <a:r>
                <a:rPr lang="en-US" b="true" sz="4162" strike="noStrike" u="non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Empathy map  |  Accessible onboarding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H="true">
            <a:off x="812468" y="2047884"/>
            <a:ext cx="0" cy="744071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7719678" y="2047884"/>
            <a:ext cx="0" cy="740426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12468" y="2047884"/>
            <a:ext cx="1690721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67114" y="9488597"/>
            <a:ext cx="1697881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812468" y="2047884"/>
            <a:ext cx="16907210" cy="5369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812468" y="2047884"/>
            <a:ext cx="16907210" cy="5369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767114" y="7417646"/>
            <a:ext cx="1690721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 descr="Blind employee James using a laptop during onboarding"/>
          <p:cNvSpPr/>
          <p:nvPr/>
        </p:nvSpPr>
        <p:spPr>
          <a:xfrm flipH="false" flipV="false" rot="0">
            <a:off x="7647905" y="2957574"/>
            <a:ext cx="3425379" cy="2523018"/>
          </a:xfrm>
          <a:custGeom>
            <a:avLst/>
            <a:gdLst/>
            <a:ahLst/>
            <a:cxnLst/>
            <a:rect r="r" b="b" t="t" l="l"/>
            <a:pathLst>
              <a:path h="2523018" w="3425379">
                <a:moveTo>
                  <a:pt x="0" y="0"/>
                </a:moveTo>
                <a:lnTo>
                  <a:pt x="3425379" y="0"/>
                </a:lnTo>
                <a:lnTo>
                  <a:pt x="3425379" y="2523019"/>
                </a:lnTo>
                <a:lnTo>
                  <a:pt x="0" y="2523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77" t="0" r="-5277" b="0"/>
            </a:stretch>
          </a:blipFill>
        </p:spPr>
      </p:sp>
      <p:sp>
        <p:nvSpPr>
          <p:cNvPr name="AutoShape 20" id="20"/>
          <p:cNvSpPr/>
          <p:nvPr/>
        </p:nvSpPr>
        <p:spPr>
          <a:xfrm flipH="true">
            <a:off x="9458151" y="7417646"/>
            <a:ext cx="0" cy="207095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-424137" y="2938869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ED1B2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HEARING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710182" y="2034864"/>
            <a:ext cx="11001955" cy="1311783"/>
            <a:chOff x="0" y="0"/>
            <a:chExt cx="14669274" cy="17490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69274" cy="1749044"/>
            </a:xfrm>
            <a:custGeom>
              <a:avLst/>
              <a:gdLst/>
              <a:ahLst/>
              <a:cxnLst/>
              <a:rect r="r" b="b" t="t" l="l"/>
              <a:pathLst>
                <a:path h="1749044" w="14669274">
                  <a:moveTo>
                    <a:pt x="0" y="0"/>
                  </a:moveTo>
                  <a:lnTo>
                    <a:pt x="14669274" y="0"/>
                  </a:lnTo>
                  <a:lnTo>
                    <a:pt x="14669274" y="1749044"/>
                  </a:lnTo>
                  <a:lnTo>
                    <a:pt x="0" y="174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06" t="0" r="57453" b="-5248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4669274" cy="1768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• Wants to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prove their ability to learn independently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• Feels frustrated and dependent when forced to ask for help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• Feels insecure and stressed when unable to understand or verify tasks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382326" y="3150298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PERCEIVING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71704" y="7153468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052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GAINS/DESIRES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3031" y="7195226"/>
            <a:ext cx="2905674" cy="4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7"/>
              </a:lnSpc>
            </a:pPr>
            <a:r>
              <a:rPr lang="en-US" sz="2776" b="true">
                <a:solidFill>
                  <a:srgbClr val="FDEB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29635" y="1925116"/>
            <a:ext cx="6022439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ED1B2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THINKING AND FEELING 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37776" y="6122476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SAYING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57126" y="6016235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OING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9453388" y="4944195"/>
            <a:ext cx="0" cy="268488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869785" y="3938018"/>
            <a:ext cx="5659288" cy="1871853"/>
            <a:chOff x="0" y="0"/>
            <a:chExt cx="7545717" cy="24958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45718" cy="2495804"/>
            </a:xfrm>
            <a:custGeom>
              <a:avLst/>
              <a:gdLst/>
              <a:ahLst/>
              <a:cxnLst/>
              <a:rect r="r" b="b" t="t" l="l"/>
              <a:pathLst>
                <a:path h="2495804" w="7545718">
                  <a:moveTo>
                    <a:pt x="0" y="0"/>
                  </a:moveTo>
                  <a:lnTo>
                    <a:pt x="7545718" y="0"/>
                  </a:lnTo>
                  <a:lnTo>
                    <a:pt x="7545718" y="2495804"/>
                  </a:lnTo>
                  <a:lnTo>
                    <a:pt x="0" y="2495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984" t="0" r="17287" b="-68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545717" cy="2514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23850" indent="-161925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Legacy systems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that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cannot 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be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changed immediately.</a:t>
              </a:r>
            </a:p>
            <a:p>
              <a:pPr algn="just" marL="323850" indent="-161925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Unlabelled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or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screen-reader-incompatible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interface elements.</a:t>
              </a:r>
            </a:p>
            <a:p>
              <a:pPr algn="just" marL="323850" indent="-161925" lvl="1">
                <a:lnSpc>
                  <a:spcPts val="2025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Sighted colleagues completing the same tasks with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fewer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barriers.</a:t>
              </a:r>
            </a:p>
            <a:p>
              <a:pPr algn="just" marL="323850" indent="-161925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Limited accessible alternatives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.</a:t>
              </a:r>
            </a:p>
            <a:p>
              <a:pPr algn="just">
                <a:lnSpc>
                  <a:spcPts val="2025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3824529"/>
            <a:ext cx="6656974" cy="2239330"/>
            <a:chOff x="0" y="0"/>
            <a:chExt cx="8875966" cy="29857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75966" cy="2985774"/>
            </a:xfrm>
            <a:custGeom>
              <a:avLst/>
              <a:gdLst/>
              <a:ahLst/>
              <a:cxnLst/>
              <a:rect r="r" b="b" t="t" l="l"/>
              <a:pathLst>
                <a:path h="2985774" w="8875966">
                  <a:moveTo>
                    <a:pt x="0" y="0"/>
                  </a:moveTo>
                  <a:lnTo>
                    <a:pt x="8875966" y="0"/>
                  </a:lnTo>
                  <a:lnTo>
                    <a:pt x="8875966" y="2985774"/>
                  </a:lnTo>
                  <a:lnTo>
                    <a:pt x="0" y="29857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787" t="0" r="29683" b="1067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875966" cy="3004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“This is the system the company already uses.”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“Changing the platform will take time.”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They he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ar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generic, visually dependent 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directions such as: “Click A to open B,” “select C,” or “delete D.” when using screen recorder read the </a:t>
              </a:r>
              <a:r>
                <a:rPr lang="en-US" b="true" sz="1500" u="sng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training materials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Colleagues offering immediate help when they struggle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Contribute without waiting for system replacement.</a:t>
              </a:r>
            </a:p>
            <a:p>
              <a:pPr algn="just">
                <a:lnSpc>
                  <a:spcPts val="324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6688" y="7771951"/>
            <a:ext cx="7557241" cy="1349004"/>
            <a:chOff x="0" y="0"/>
            <a:chExt cx="10076322" cy="17986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76322" cy="1798671"/>
            </a:xfrm>
            <a:custGeom>
              <a:avLst/>
              <a:gdLst/>
              <a:ahLst/>
              <a:cxnLst/>
              <a:rect r="r" b="b" t="t" l="l"/>
              <a:pathLst>
                <a:path h="1798671" w="10076322">
                  <a:moveTo>
                    <a:pt x="0" y="0"/>
                  </a:moveTo>
                  <a:lnTo>
                    <a:pt x="10076322" y="0"/>
                  </a:lnTo>
                  <a:lnTo>
                    <a:pt x="10076322" y="1798671"/>
                  </a:lnTo>
                  <a:lnTo>
                    <a:pt x="0" y="1798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78" t="0" r="38060" b="-4827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0076322" cy="1827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10208" indent="-205104" lvl="1">
                <a:lnSpc>
                  <a:spcPts val="2545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Screen readers 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cannot interpret key interfac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 el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ements.</a:t>
              </a:r>
            </a:p>
            <a:p>
              <a:pPr algn="just" marL="410208" indent="-205104" lvl="1">
                <a:lnSpc>
                  <a:spcPts val="2545"/>
                </a:lnSpc>
                <a:buFont typeface="Arial"/>
                <a:buChar char="•"/>
              </a:pP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Visual instructions 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lack the context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needed to act.</a:t>
              </a:r>
            </a:p>
            <a:p>
              <a:pPr algn="just" marL="410208" indent="-205104" lvl="1">
                <a:lnSpc>
                  <a:spcPts val="2545"/>
                </a:lnSpc>
                <a:buFont typeface="Arial"/>
                <a:buChar char="•"/>
              </a:pP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sking for help reduces 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autonomy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during </a:t>
              </a:r>
              <a:r>
                <a:rPr lang="en-US" b="true" sz="1899" u="sng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onboarding.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02059" y="7771951"/>
            <a:ext cx="7557241" cy="1350441"/>
            <a:chOff x="0" y="0"/>
            <a:chExt cx="10076322" cy="18005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76322" cy="1800588"/>
            </a:xfrm>
            <a:custGeom>
              <a:avLst/>
              <a:gdLst/>
              <a:ahLst/>
              <a:cxnLst/>
              <a:rect r="r" b="b" t="t" l="l"/>
              <a:pathLst>
                <a:path h="1800588" w="10076322">
                  <a:moveTo>
                    <a:pt x="0" y="0"/>
                  </a:moveTo>
                  <a:lnTo>
                    <a:pt x="10076322" y="0"/>
                  </a:lnTo>
                  <a:lnTo>
                    <a:pt x="10076322" y="1800588"/>
                  </a:lnTo>
                  <a:lnTo>
                    <a:pt x="0" y="180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78" t="0" r="38060" b="-4811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0076322" cy="1829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10208" indent="-205104" lvl="1">
                <a:lnSpc>
                  <a:spcPts val="2545"/>
                </a:lnSpc>
                <a:buFont typeface="Arial"/>
                <a:buChar char="•"/>
              </a:pP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Learn 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unfamiliar systems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independently and mor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 quickly</a:t>
              </a:r>
            </a:p>
            <a:p>
              <a:pPr algn="just" marL="410208" indent="-205104" lvl="1">
                <a:lnSpc>
                  <a:spcPts val="2545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Nav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igate 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and 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verify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each step with 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confidence.</a:t>
              </a:r>
            </a:p>
            <a:p>
              <a:pPr algn="just" marL="410208" indent="-205104" lvl="1">
                <a:lnSpc>
                  <a:spcPts val="2545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Stay 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in control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without </a:t>
              </a:r>
              <a:r>
                <a:rPr lang="en-US" b="true" sz="1899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replacing existing systems</a:t>
              </a:r>
              <a:r>
                <a:rPr lang="en-US" sz="1899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of the new workplace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504211" y="6206735"/>
            <a:ext cx="4707407" cy="1036116"/>
            <a:chOff x="0" y="0"/>
            <a:chExt cx="6276543" cy="13814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76543" cy="1381488"/>
            </a:xfrm>
            <a:custGeom>
              <a:avLst/>
              <a:gdLst/>
              <a:ahLst/>
              <a:cxnLst/>
              <a:rect r="r" b="b" t="t" l="l"/>
              <a:pathLst>
                <a:path h="1381488" w="6276543">
                  <a:moveTo>
                    <a:pt x="0" y="0"/>
                  </a:moveTo>
                  <a:lnTo>
                    <a:pt x="6276543" y="0"/>
                  </a:lnTo>
                  <a:lnTo>
                    <a:pt x="6276543" y="1381488"/>
                  </a:lnTo>
                  <a:lnTo>
                    <a:pt x="0" y="1381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98" t="0" r="562" b="-930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276543" cy="1391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935"/>
                </a:lnSpc>
              </a:pPr>
              <a:r>
                <a:rPr lang="en-US" sz="1500" spc="10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“You can’t just come into a company and ask them to </a:t>
              </a:r>
              <a:r>
                <a:rPr lang="en-US" b="true" sz="1500" spc="102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change the workflow</a:t>
              </a:r>
              <a:r>
                <a:rPr lang="en-US" sz="1500" spc="10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.”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300759" y="6688159"/>
            <a:ext cx="6157392" cy="1036116"/>
            <a:chOff x="0" y="0"/>
            <a:chExt cx="8209856" cy="13814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09856" cy="1381488"/>
            </a:xfrm>
            <a:custGeom>
              <a:avLst/>
              <a:gdLst/>
              <a:ahLst/>
              <a:cxnLst/>
              <a:rect r="r" b="b" t="t" l="l"/>
              <a:pathLst>
                <a:path h="1381488" w="8209856">
                  <a:moveTo>
                    <a:pt x="0" y="0"/>
                  </a:moveTo>
                  <a:lnTo>
                    <a:pt x="8209856" y="0"/>
                  </a:lnTo>
                  <a:lnTo>
                    <a:pt x="8209856" y="1381488"/>
                  </a:lnTo>
                  <a:lnTo>
                    <a:pt x="0" y="1381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38" t="0" r="23978" b="-9305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209856" cy="1391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935"/>
                </a:lnSpc>
              </a:pPr>
              <a:r>
                <a:rPr lang="en-US" sz="1500" spc="10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“I want </a:t>
              </a:r>
              <a:r>
                <a:rPr lang="en-US" b="true" sz="1500" spc="102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support without asking help</a:t>
              </a:r>
              <a:r>
                <a:rPr lang="en-US" sz="1500" spc="10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from my collegues”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1168" y="5879689"/>
            <a:ext cx="3483458" cy="673142"/>
            <a:chOff x="0" y="0"/>
            <a:chExt cx="4644611" cy="89752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44611" cy="897522"/>
            </a:xfrm>
            <a:custGeom>
              <a:avLst/>
              <a:gdLst/>
              <a:ahLst/>
              <a:cxnLst/>
              <a:rect r="r" b="b" t="t" l="l"/>
              <a:pathLst>
                <a:path h="897522" w="4644611">
                  <a:moveTo>
                    <a:pt x="0" y="0"/>
                  </a:moveTo>
                  <a:lnTo>
                    <a:pt x="4644611" y="0"/>
                  </a:lnTo>
                  <a:lnTo>
                    <a:pt x="4644611" y="897522"/>
                  </a:lnTo>
                  <a:lnTo>
                    <a:pt x="0" y="8975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971" t="0" r="-34376" b="-1971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644611" cy="916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Try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screen readers 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and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keyboard navigation.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58151" y="6506531"/>
            <a:ext cx="6022529" cy="1064133"/>
            <a:chOff x="0" y="0"/>
            <a:chExt cx="8030039" cy="14188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30039" cy="1418844"/>
            </a:xfrm>
            <a:custGeom>
              <a:avLst/>
              <a:gdLst/>
              <a:ahLst/>
              <a:cxnLst/>
              <a:rect r="r" b="b" t="t" l="l"/>
              <a:pathLst>
                <a:path h="1418844" w="8030039">
                  <a:moveTo>
                    <a:pt x="0" y="0"/>
                  </a:moveTo>
                  <a:lnTo>
                    <a:pt x="8030039" y="0"/>
                  </a:lnTo>
                  <a:lnTo>
                    <a:pt x="8030039" y="1418844"/>
                  </a:lnTo>
                  <a:lnTo>
                    <a:pt x="0" y="14188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502" t="0" r="22276" b="-8796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8030039" cy="1437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Explore unfamiliar systems independently but it takes time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Ask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sighted colleagues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for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help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when blocked.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Suggest long-term accessibility improvements.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813810" y="5652043"/>
            <a:ext cx="3397808" cy="1036116"/>
            <a:chOff x="0" y="0"/>
            <a:chExt cx="4530411" cy="13814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30411" cy="1381488"/>
            </a:xfrm>
            <a:custGeom>
              <a:avLst/>
              <a:gdLst/>
              <a:ahLst/>
              <a:cxnLst/>
              <a:rect r="r" b="b" t="t" l="l"/>
              <a:pathLst>
                <a:path h="1381488" w="4530411">
                  <a:moveTo>
                    <a:pt x="0" y="0"/>
                  </a:moveTo>
                  <a:lnTo>
                    <a:pt x="4530411" y="0"/>
                  </a:lnTo>
                  <a:lnTo>
                    <a:pt x="4530411" y="1381488"/>
                  </a:lnTo>
                  <a:lnTo>
                    <a:pt x="0" y="1381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98" t="0" r="-37763" b="-9305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4530411" cy="1391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935"/>
                </a:lnSpc>
              </a:pPr>
              <a:r>
                <a:rPr lang="en-US" sz="1500" spc="10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“I know </a:t>
              </a:r>
              <a:r>
                <a:rPr lang="en-US" b="true" sz="1500" spc="102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 can do it</a:t>
              </a:r>
              <a:r>
                <a:rPr lang="en-US" sz="1500" spc="10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but my learning tool is </a:t>
              </a:r>
              <a:r>
                <a:rPr lang="en-US" b="true" sz="1500" spc="102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incompatible</a:t>
              </a:r>
              <a:r>
                <a:rPr lang="en-US" sz="1500" spc="10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”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422585" y="2765637"/>
            <a:ext cx="11001955" cy="1311783"/>
            <a:chOff x="0" y="0"/>
            <a:chExt cx="14669274" cy="17490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69274" cy="1749044"/>
            </a:xfrm>
            <a:custGeom>
              <a:avLst/>
              <a:gdLst/>
              <a:ahLst/>
              <a:cxnLst/>
              <a:rect r="r" b="b" t="t" l="l"/>
              <a:pathLst>
                <a:path h="1749044" w="14669274">
                  <a:moveTo>
                    <a:pt x="0" y="0"/>
                  </a:moveTo>
                  <a:lnTo>
                    <a:pt x="14669274" y="0"/>
                  </a:lnTo>
                  <a:lnTo>
                    <a:pt x="14669274" y="1749044"/>
                  </a:lnTo>
                  <a:lnTo>
                    <a:pt x="0" y="1749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06" t="0" r="57453" b="-5248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4669274" cy="1768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• Wants to stay in control and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cont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ribute like other colleagues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• May feel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isolated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when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inaccessible                systems create barriers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8331" y="2135908"/>
            <a:ext cx="17310168" cy="8163747"/>
            <a:chOff x="0" y="0"/>
            <a:chExt cx="2181225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57338"/>
            <a:ext cx="7429500" cy="342900"/>
            <a:chOff x="0" y="0"/>
            <a:chExt cx="99060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906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APPENDIX  | 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631713"/>
            <a:ext cx="15144750" cy="782749"/>
            <a:chOff x="0" y="0"/>
            <a:chExt cx="20193000" cy="10436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93000" cy="1043666"/>
            </a:xfrm>
            <a:custGeom>
              <a:avLst/>
              <a:gdLst/>
              <a:ahLst/>
              <a:cxnLst/>
              <a:rect r="r" b="b" t="t" l="l"/>
              <a:pathLst>
                <a:path h="1043666" w="20193000">
                  <a:moveTo>
                    <a:pt x="0" y="0"/>
                  </a:moveTo>
                  <a:lnTo>
                    <a:pt x="20193000" y="0"/>
                  </a:lnTo>
                  <a:lnTo>
                    <a:pt x="20193000" y="1043666"/>
                  </a:lnTo>
                  <a:lnTo>
                    <a:pt x="0" y="1043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716" r="0" b="-3262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0193000" cy="1034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994"/>
                </a:lnSpc>
                <a:spcBef>
                  <a:spcPct val="0"/>
                </a:spcBef>
              </a:pPr>
              <a:r>
                <a:rPr lang="en-US" b="true" sz="4162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Persona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12468" y="2047884"/>
            <a:ext cx="0" cy="7848623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7908498" y="2047884"/>
            <a:ext cx="48986" cy="781217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12468" y="2047884"/>
            <a:ext cx="1709603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18128" y="9896507"/>
            <a:ext cx="1719037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767114" y="2875305"/>
            <a:ext cx="1708995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6401367" y="2875305"/>
            <a:ext cx="0" cy="698475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5806463" y="3107255"/>
            <a:ext cx="2905674" cy="4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J2BD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70762" y="5809799"/>
            <a:ext cx="29056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52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206348"/>
            <a:ext cx="10244753" cy="4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</a:t>
            </a:r>
            <a:r>
              <a:rPr lang="en-US" sz="2776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s. NGOC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61028" y="7444924"/>
            <a:ext cx="831605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</a:t>
            </a:r>
            <a:r>
              <a:rPr lang="en-US" sz="2000" b="true">
                <a:solidFill>
                  <a:srgbClr val="21B5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 CASE/ APPLICATION SCENARIO</a:t>
            </a:r>
          </a:p>
        </p:txBody>
      </p:sp>
      <p:sp>
        <p:nvSpPr>
          <p:cNvPr name="AutoShape 22" id="22"/>
          <p:cNvSpPr/>
          <p:nvPr/>
        </p:nvSpPr>
        <p:spPr>
          <a:xfrm flipH="true">
            <a:off x="6558529" y="7135361"/>
            <a:ext cx="609040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2648937" y="2838857"/>
            <a:ext cx="0" cy="705765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3290784" y="2195522"/>
            <a:ext cx="6022529" cy="816483"/>
            <a:chOff x="0" y="0"/>
            <a:chExt cx="8030039" cy="10886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30039" cy="1088644"/>
            </a:xfrm>
            <a:custGeom>
              <a:avLst/>
              <a:gdLst/>
              <a:ahLst/>
              <a:cxnLst/>
              <a:rect r="r" b="b" t="t" l="l"/>
              <a:pathLst>
                <a:path h="1088644" w="8030039">
                  <a:moveTo>
                    <a:pt x="0" y="0"/>
                  </a:moveTo>
                  <a:lnTo>
                    <a:pt x="8030039" y="0"/>
                  </a:lnTo>
                  <a:lnTo>
                    <a:pt x="8030039" y="1088644"/>
                  </a:lnTo>
                  <a:lnTo>
                    <a:pt x="0" y="10886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502" t="0" r="22276" b="-1449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030039" cy="1107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Role: Newly hired knowledge worker 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01069" y="2195522"/>
            <a:ext cx="6022529" cy="816483"/>
            <a:chOff x="0" y="0"/>
            <a:chExt cx="8030039" cy="10886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30039" cy="1088644"/>
            </a:xfrm>
            <a:custGeom>
              <a:avLst/>
              <a:gdLst/>
              <a:ahLst/>
              <a:cxnLst/>
              <a:rect r="r" b="b" t="t" l="l"/>
              <a:pathLst>
                <a:path h="1088644" w="8030039">
                  <a:moveTo>
                    <a:pt x="0" y="0"/>
                  </a:moveTo>
                  <a:lnTo>
                    <a:pt x="8030039" y="0"/>
                  </a:lnTo>
                  <a:lnTo>
                    <a:pt x="8030039" y="1088644"/>
                  </a:lnTo>
                  <a:lnTo>
                    <a:pt x="0" y="10886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502" t="0" r="22276" b="-144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030039" cy="1107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Visi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on: Blind; experienced screen-reader user 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92118" y="2195522"/>
            <a:ext cx="5393161" cy="816483"/>
            <a:chOff x="0" y="0"/>
            <a:chExt cx="7190882" cy="10886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0882" cy="1088644"/>
            </a:xfrm>
            <a:custGeom>
              <a:avLst/>
              <a:gdLst/>
              <a:ahLst/>
              <a:cxnLst/>
              <a:rect r="r" b="b" t="t" l="l"/>
              <a:pathLst>
                <a:path h="1088644" w="7190882">
                  <a:moveTo>
                    <a:pt x="0" y="0"/>
                  </a:moveTo>
                  <a:lnTo>
                    <a:pt x="7190882" y="0"/>
                  </a:lnTo>
                  <a:lnTo>
                    <a:pt x="7190882" y="1088644"/>
                  </a:lnTo>
                  <a:lnTo>
                    <a:pt x="0" y="10886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78" t="0" r="13205" b="-1449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190882" cy="1107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ontext: Learning internal systems during onboarding 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67114" y="2751260"/>
            <a:ext cx="5588899" cy="2449881"/>
            <a:chOff x="0" y="0"/>
            <a:chExt cx="7451865" cy="32665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51865" cy="3266508"/>
            </a:xfrm>
            <a:custGeom>
              <a:avLst/>
              <a:gdLst/>
              <a:ahLst/>
              <a:cxnLst/>
              <a:rect r="r" b="b" t="t" l="l"/>
              <a:pathLst>
                <a:path h="3266508" w="7451865">
                  <a:moveTo>
                    <a:pt x="0" y="0"/>
                  </a:moveTo>
                  <a:lnTo>
                    <a:pt x="7451865" y="0"/>
                  </a:lnTo>
                  <a:lnTo>
                    <a:pt x="7451865" y="3266508"/>
                  </a:lnTo>
                  <a:lnTo>
                    <a:pt x="0" y="32665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4" t="0" r="16245" b="1835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7451865" cy="3285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876"/>
                </a:lnSpc>
              </a:pP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Age: 28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Ho Chi Minh City, Vietnam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Income: 15 million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Job: Data Specialist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Lifestyle: Lives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independently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; uses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digital services daily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Personality: Curious, self-directed and careful with details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Career goal: Build a long-term career and earn trust at work</a:t>
              </a:r>
            </a:p>
            <a:p>
              <a:pPr algn="just">
                <a:lnSpc>
                  <a:spcPts val="1876"/>
                </a:lnSpc>
              </a:pPr>
            </a:p>
            <a:p>
              <a:pPr algn="just">
                <a:lnSpc>
                  <a:spcPts val="187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7641" y="2775870"/>
            <a:ext cx="4942154" cy="3292983"/>
            <a:chOff x="0" y="0"/>
            <a:chExt cx="6589538" cy="43906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9538" cy="4390644"/>
            </a:xfrm>
            <a:custGeom>
              <a:avLst/>
              <a:gdLst/>
              <a:ahLst/>
              <a:cxnLst/>
              <a:rect r="r" b="b" t="t" l="l"/>
              <a:pathLst>
                <a:path h="4390644" w="6589538">
                  <a:moveTo>
                    <a:pt x="0" y="0"/>
                  </a:moveTo>
                  <a:lnTo>
                    <a:pt x="6589538" y="0"/>
                  </a:lnTo>
                  <a:lnTo>
                    <a:pt x="6589538" y="4390644"/>
                  </a:lnTo>
                  <a:lnTo>
                    <a:pt x="0" y="43906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142" t="0" r="5285" b="392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589538" cy="4409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Functional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Lear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 unfamiliar 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internal systems.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Locate, understand, and operate interface controls.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Complete and verify onboarding tasks accurately.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Emotional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F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eel confident and in control.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Social</a:t>
              </a: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Demonstrate capability without repeatedly requesting help.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706167" y="7836248"/>
            <a:ext cx="6617432" cy="2302383"/>
            <a:chOff x="0" y="0"/>
            <a:chExt cx="8823242" cy="30698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823242" cy="3069844"/>
            </a:xfrm>
            <a:custGeom>
              <a:avLst/>
              <a:gdLst/>
              <a:ahLst/>
              <a:cxnLst/>
              <a:rect r="r" b="b" t="t" l="l"/>
              <a:pathLst>
                <a:path h="3069844" w="8823242">
                  <a:moveTo>
                    <a:pt x="0" y="0"/>
                  </a:moveTo>
                  <a:lnTo>
                    <a:pt x="8823242" y="0"/>
                  </a:lnTo>
                  <a:lnTo>
                    <a:pt x="8823242" y="3069844"/>
                  </a:lnTo>
                  <a:lnTo>
                    <a:pt x="0" y="30698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28" t="0" r="29263" b="131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8823242" cy="3088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Follow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digital onboarding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and </a:t>
              </a:r>
              <a:r>
                <a:rPr lang="en-US" b="true" sz="15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training materials.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Nav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igate HR, learning, and internal work platforms.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Complete forms and multi-step workflows.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Understand inaccessible or unlabelled controls.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Verify results before submitting an important action.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Request assistance only when necessary.</a:t>
              </a:r>
            </a:p>
            <a:p>
              <a:pPr algn="just">
                <a:lnSpc>
                  <a:spcPts val="2010"/>
                </a:lnSpc>
              </a:pPr>
            </a:p>
            <a:p>
              <a:pPr algn="just">
                <a:lnSpc>
                  <a:spcPts val="201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883024" y="7637811"/>
            <a:ext cx="29056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52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GAINS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648937" y="6126003"/>
            <a:ext cx="5308547" cy="1559433"/>
            <a:chOff x="0" y="0"/>
            <a:chExt cx="7078063" cy="20792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78063" cy="2079244"/>
            </a:xfrm>
            <a:custGeom>
              <a:avLst/>
              <a:gdLst/>
              <a:ahLst/>
              <a:cxnLst/>
              <a:rect r="r" b="b" t="t" l="l"/>
              <a:pathLst>
                <a:path h="2079244" w="7078063">
                  <a:moveTo>
                    <a:pt x="0" y="0"/>
                  </a:moveTo>
                  <a:lnTo>
                    <a:pt x="7078063" y="0"/>
                  </a:lnTo>
                  <a:lnTo>
                    <a:pt x="7078063" y="2079244"/>
                  </a:lnTo>
                  <a:lnTo>
                    <a:pt x="0" y="20792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11" t="0" r="11822" b="-2826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078063" cy="2098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l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Screen readers cannot interpret key interface elements. </a:t>
              </a:r>
            </a:p>
            <a:p>
              <a:pPr algn="l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Visual instructions lack the context needed to act. </a:t>
              </a:r>
            </a:p>
            <a:p>
              <a:pPr algn="l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Asking for help reduces autonomy during onboarding.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648937" y="7918001"/>
            <a:ext cx="5116240" cy="1807083"/>
            <a:chOff x="0" y="0"/>
            <a:chExt cx="6821654" cy="24094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1654" cy="2409444"/>
            </a:xfrm>
            <a:custGeom>
              <a:avLst/>
              <a:gdLst/>
              <a:ahLst/>
              <a:cxnLst/>
              <a:rect r="r" b="b" t="t" l="l"/>
              <a:pathLst>
                <a:path h="2409444" w="6821654">
                  <a:moveTo>
                    <a:pt x="0" y="0"/>
                  </a:moveTo>
                  <a:lnTo>
                    <a:pt x="6821654" y="0"/>
                  </a:lnTo>
                  <a:lnTo>
                    <a:pt x="6821654" y="2409444"/>
                  </a:lnTo>
                  <a:lnTo>
                    <a:pt x="0" y="2409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31" t="0" r="8508" b="-1068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821654" cy="2428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Learn unfamiliar systems independently and more quickly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Navigate and verify each step with confidence.</a:t>
              </a:r>
            </a:p>
            <a:p>
              <a:pPr algn="just" marL="323850" indent="-161925" lvl="1">
                <a:lnSpc>
                  <a:spcPts val="2010"/>
                </a:lnSpc>
                <a:buFont typeface="Arial"/>
                <a:buChar char="•"/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Stay in control without replacing existing systems of the new workplace</a:t>
              </a:r>
            </a:p>
            <a:p>
              <a:pPr algn="just">
                <a:lnSpc>
                  <a:spcPts val="2010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7114745" y="2875305"/>
            <a:ext cx="4158708" cy="2471754"/>
          </a:xfrm>
          <a:custGeom>
            <a:avLst/>
            <a:gdLst/>
            <a:ahLst/>
            <a:cxnLst/>
            <a:rect r="r" b="b" t="t" l="l"/>
            <a:pathLst>
              <a:path h="2471754" w="4158708">
                <a:moveTo>
                  <a:pt x="0" y="0"/>
                </a:moveTo>
                <a:lnTo>
                  <a:pt x="4158708" y="0"/>
                </a:lnTo>
                <a:lnTo>
                  <a:pt x="4158708" y="2471754"/>
                </a:lnTo>
                <a:lnTo>
                  <a:pt x="0" y="2471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14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028700" y="6879496"/>
            <a:ext cx="29056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DEB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4745212"/>
            <a:ext cx="29056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DEB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INFLUENCERS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12468" y="5077316"/>
            <a:ext cx="5598424" cy="1735506"/>
            <a:chOff x="0" y="0"/>
            <a:chExt cx="7464565" cy="23140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64565" cy="2314008"/>
            </a:xfrm>
            <a:custGeom>
              <a:avLst/>
              <a:gdLst/>
              <a:ahLst/>
              <a:cxnLst/>
              <a:rect r="r" b="b" t="t" l="l"/>
              <a:pathLst>
                <a:path h="2314008" w="7464565">
                  <a:moveTo>
                    <a:pt x="0" y="0"/>
                  </a:moveTo>
                  <a:lnTo>
                    <a:pt x="7464565" y="0"/>
                  </a:lnTo>
                  <a:lnTo>
                    <a:pt x="7464565" y="2314008"/>
                  </a:lnTo>
                  <a:lnTo>
                    <a:pt x="0" y="2314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70" t="0" r="16388" b="-152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464565" cy="2333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876"/>
                </a:lnSpc>
              </a:pP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Manager: Defines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expectations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and m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easures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performance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Colleagues: Provide immediate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sighted assistance.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HR/L&amp;D: Own onboarding and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training materials.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IT/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accessibility team: Control tools and accommodations.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Software vendors: Determine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system accessibility.</a:t>
              </a:r>
            </a:p>
            <a:p>
              <a:pPr algn="just">
                <a:lnSpc>
                  <a:spcPts val="1876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1273" y="7256557"/>
            <a:ext cx="5342457" cy="2211756"/>
            <a:chOff x="0" y="0"/>
            <a:chExt cx="7123276" cy="29490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123276" cy="2949008"/>
            </a:xfrm>
            <a:custGeom>
              <a:avLst/>
              <a:gdLst/>
              <a:ahLst/>
              <a:cxnLst/>
              <a:rect r="r" b="b" t="t" l="l"/>
              <a:pathLst>
                <a:path h="2949008" w="7123276">
                  <a:moveTo>
                    <a:pt x="0" y="0"/>
                  </a:moveTo>
                  <a:lnTo>
                    <a:pt x="7123276" y="0"/>
                  </a:lnTo>
                  <a:lnTo>
                    <a:pt x="7123276" y="2949008"/>
                  </a:lnTo>
                  <a:lnTo>
                    <a:pt x="0" y="2949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57" t="0" r="12382" b="956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123276" cy="2968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876"/>
                </a:lnSpc>
              </a:pP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More workplace tasks are moving to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digit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al 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platforms.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Rem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ote and hybrid work increase reliance on digital systems.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Demand for </a:t>
              </a:r>
              <a:r>
                <a:rPr lang="en-US" b="true" sz="1400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digitally skilled 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employees is growing.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AI 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and voice interfaces are creating new accessibility options.</a:t>
              </a:r>
            </a:p>
            <a:p>
              <a:pPr algn="just" marL="302261" indent="-151130" lvl="1">
                <a:lnSpc>
                  <a:spcPts val="1876"/>
                </a:lnSpc>
                <a:buFont typeface="Arial"/>
                <a:buChar char="•"/>
              </a:pP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Leg</a:t>
              </a:r>
              <a:r>
                <a:rPr lang="en-US" sz="14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acy workplace systems remain difficult to replace.</a:t>
              </a:r>
            </a:p>
            <a:p>
              <a:pPr algn="just">
                <a:lnSpc>
                  <a:spcPts val="1876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506142" y="5313991"/>
            <a:ext cx="5865687" cy="2054733"/>
            <a:chOff x="0" y="0"/>
            <a:chExt cx="7820916" cy="27396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820916" cy="2739644"/>
            </a:xfrm>
            <a:custGeom>
              <a:avLst/>
              <a:gdLst/>
              <a:ahLst/>
              <a:cxnLst/>
              <a:rect r="r" b="b" t="t" l="l"/>
              <a:pathLst>
                <a:path h="2739644" w="7820916">
                  <a:moveTo>
                    <a:pt x="0" y="0"/>
                  </a:moveTo>
                  <a:lnTo>
                    <a:pt x="7820916" y="0"/>
                  </a:lnTo>
                  <a:lnTo>
                    <a:pt x="7820916" y="2739644"/>
                  </a:lnTo>
                  <a:lnTo>
                    <a:pt x="0" y="27396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703" t="0" r="20197" b="265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7820916" cy="2758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10"/>
                </a:lnSpc>
              </a:pPr>
            </a:p>
            <a:p>
              <a:pPr algn="just">
                <a:lnSpc>
                  <a:spcPts val="2010"/>
                </a:lnSpc>
              </a:pP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During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onboarding,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I want to demonstrate that I can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learn independently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but when internal systems are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incompatible with my screen reader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I must ask for help just to understand the interface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. 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 need a way that lets me 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navigate, learn, and verify</a:t>
              </a:r>
              <a:r>
                <a:rPr lang="en-US" sz="150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each step while</a:t>
              </a:r>
              <a:r>
                <a:rPr lang="en-US" sz="1500" b="true">
                  <a:solidFill>
                    <a:srgbClr val="1C2530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 remaining in control. </a:t>
              </a:r>
            </a:p>
            <a:p>
              <a:pPr algn="just">
                <a:lnSpc>
                  <a:spcPts val="2010"/>
                </a:lnSpc>
              </a:pPr>
            </a:p>
            <a:p>
              <a:pPr algn="just">
                <a:lnSpc>
                  <a:spcPts val="2010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273453" y="5148622"/>
            <a:ext cx="1024475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ED1B2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sz="2000" b="true">
                <a:solidFill>
                  <a:srgbClr val="ED1B2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NSIGHT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" y="1928812"/>
            <a:ext cx="16359188" cy="7715250"/>
            <a:chOff x="0" y="0"/>
            <a:chExt cx="2181225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928688"/>
            <a:ext cx="7429500" cy="342900"/>
            <a:chOff x="0" y="0"/>
            <a:chExt cx="99060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906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APPENDIX  |  FIVE WHYS SYNTHESIS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30598" y="1803441"/>
            <a:ext cx="13737579" cy="8577401"/>
          </a:xfrm>
          <a:custGeom>
            <a:avLst/>
            <a:gdLst/>
            <a:ahLst/>
            <a:cxnLst/>
            <a:rect r="r" b="b" t="t" l="l"/>
            <a:pathLst>
              <a:path h="8577401" w="13737579">
                <a:moveTo>
                  <a:pt x="0" y="0"/>
                </a:moveTo>
                <a:lnTo>
                  <a:pt x="13737579" y="0"/>
                </a:lnTo>
                <a:lnTo>
                  <a:pt x="13737579" y="8577402"/>
                </a:lnTo>
                <a:lnTo>
                  <a:pt x="0" y="8577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71550" y="1466000"/>
            <a:ext cx="5314950" cy="1193372"/>
            <a:chOff x="0" y="0"/>
            <a:chExt cx="4648200" cy="1043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48200" cy="1043666"/>
            </a:xfrm>
            <a:custGeom>
              <a:avLst/>
              <a:gdLst/>
              <a:ahLst/>
              <a:cxnLst/>
              <a:rect r="r" b="b" t="t" l="l"/>
              <a:pathLst>
                <a:path h="1043666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043666"/>
                  </a:lnTo>
                  <a:lnTo>
                    <a:pt x="0" y="1043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716" r="-334426" b="-3262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4648200" cy="1034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4"/>
                </a:lnSpc>
              </a:pPr>
              <a:r>
                <a:rPr lang="en-US" sz="4162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 tree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" y="1928812"/>
            <a:ext cx="16359188" cy="7715250"/>
            <a:chOff x="0" y="0"/>
            <a:chExt cx="2181225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457325"/>
            <a:ext cx="7429500" cy="342900"/>
            <a:chOff x="0" y="0"/>
            <a:chExt cx="99060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99060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APPENDIX  |  TESTING SHEET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51600"/>
            <a:ext cx="8366403" cy="906712"/>
            <a:chOff x="0" y="0"/>
            <a:chExt cx="11155204" cy="1208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55204" cy="1208950"/>
            </a:xfrm>
            <a:custGeom>
              <a:avLst/>
              <a:gdLst/>
              <a:ahLst/>
              <a:cxnLst/>
              <a:rect r="r" b="b" t="t" l="l"/>
              <a:pathLst>
                <a:path h="1208950" w="11155204">
                  <a:moveTo>
                    <a:pt x="0" y="0"/>
                  </a:moveTo>
                  <a:lnTo>
                    <a:pt x="11155204" y="0"/>
                  </a:lnTo>
                  <a:lnTo>
                    <a:pt x="11155204" y="1208950"/>
                  </a:lnTo>
                  <a:lnTo>
                    <a:pt x="0" y="1208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911" r="-81018" b="-2680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1155204" cy="1199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4"/>
                </a:lnSpc>
              </a:pPr>
              <a:r>
                <a:rPr lang="en-US" sz="4162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Pre-market prototype testing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975" y="1928812"/>
            <a:ext cx="16359188" cy="7686675"/>
            <a:chOff x="0" y="0"/>
            <a:chExt cx="21812250" cy="10248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12250" cy="10248900"/>
            </a:xfrm>
            <a:custGeom>
              <a:avLst/>
              <a:gdLst/>
              <a:ahLst/>
              <a:cxnLst/>
              <a:rect r="r" b="b" t="t" l="l"/>
              <a:pathLst>
                <a:path h="102489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48900"/>
                  </a:lnTo>
                  <a:lnTo>
                    <a:pt x="0" y="102489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1556" y="2130773"/>
            <a:ext cx="15416212" cy="6748908"/>
            <a:chOff x="0" y="0"/>
            <a:chExt cx="20554950" cy="89985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554950" cy="8998544"/>
            </a:xfrm>
            <a:custGeom>
              <a:avLst/>
              <a:gdLst/>
              <a:ahLst/>
              <a:cxnLst/>
              <a:rect r="r" b="b" t="t" l="l"/>
              <a:pathLst>
                <a:path h="8998544" w="20554950">
                  <a:moveTo>
                    <a:pt x="0" y="0"/>
                  </a:moveTo>
                  <a:lnTo>
                    <a:pt x="20554950" y="0"/>
                  </a:lnTo>
                  <a:lnTo>
                    <a:pt x="20554950" y="8998544"/>
                  </a:lnTo>
                  <a:lnTo>
                    <a:pt x="0" y="8998544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00" y="2202656"/>
            <a:ext cx="9429750" cy="400050"/>
            <a:chOff x="0" y="0"/>
            <a:chExt cx="125730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73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573000">
                  <a:moveTo>
                    <a:pt x="0" y="0"/>
                  </a:moveTo>
                  <a:lnTo>
                    <a:pt x="12573000" y="0"/>
                  </a:lnTo>
                  <a:lnTo>
                    <a:pt x="12573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290" r="0" b="-4092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25730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TESTING SHEET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62662" y="2602706"/>
            <a:ext cx="5143500" cy="400050"/>
            <a:chOff x="0" y="0"/>
            <a:chExt cx="6858000" cy="533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533400"/>
            </a:xfrm>
            <a:custGeom>
              <a:avLst/>
              <a:gdLst/>
              <a:ahLst/>
              <a:cxnLst/>
              <a:rect r="r" b="b" t="t" l="l"/>
              <a:pathLst>
                <a:path h="5334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8580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FEEDBACK CAPTURE GRID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15625" y="3314700"/>
            <a:ext cx="14288" cy="5557838"/>
            <a:chOff x="0" y="0"/>
            <a:chExt cx="19050" cy="7410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A7ADB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50156" y="2693194"/>
            <a:ext cx="5511792" cy="1564481"/>
            <a:chOff x="0" y="0"/>
            <a:chExt cx="7349056" cy="20859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9056" cy="2085975"/>
            </a:xfrm>
            <a:custGeom>
              <a:avLst/>
              <a:gdLst/>
              <a:ahLst/>
              <a:cxnLst/>
              <a:rect r="r" b="b" t="t" l="l"/>
              <a:pathLst>
                <a:path h="2085975" w="7349056">
                  <a:moveTo>
                    <a:pt x="0" y="0"/>
                  </a:moveTo>
                  <a:lnTo>
                    <a:pt x="7349056" y="0"/>
                  </a:lnTo>
                  <a:lnTo>
                    <a:pt x="7349056" y="2085975"/>
                  </a:lnTo>
                  <a:lnTo>
                    <a:pt x="0" y="20859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57300" y="2700338"/>
            <a:ext cx="126954" cy="1559719"/>
            <a:chOff x="0" y="0"/>
            <a:chExt cx="133350" cy="1638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3350" cy="1638300"/>
            </a:xfrm>
            <a:custGeom>
              <a:avLst/>
              <a:gdLst/>
              <a:ahLst/>
              <a:cxnLst/>
              <a:rect r="r" b="b" t="t" l="l"/>
              <a:pathLst>
                <a:path h="163830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63830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21B5E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93346" y="2893124"/>
            <a:ext cx="4114800" cy="328803"/>
            <a:chOff x="0" y="0"/>
            <a:chExt cx="5486400" cy="4384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438404"/>
            </a:xfrm>
            <a:custGeom>
              <a:avLst/>
              <a:gdLst/>
              <a:ahLst/>
              <a:cxnLst/>
              <a:rect r="r" b="b" t="t" l="l"/>
              <a:pathLst>
                <a:path h="43840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38404"/>
                  </a:lnTo>
                  <a:lnTo>
                    <a:pt x="0" y="438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74" r="0" b="-19381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486400" cy="43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SCENARIO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74522" y="3235202"/>
            <a:ext cx="6873611" cy="786729"/>
            <a:chOff x="0" y="0"/>
            <a:chExt cx="9164815" cy="10489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64815" cy="1048973"/>
            </a:xfrm>
            <a:custGeom>
              <a:avLst/>
              <a:gdLst/>
              <a:ahLst/>
              <a:cxnLst/>
              <a:rect r="r" b="b" t="t" l="l"/>
              <a:pathLst>
                <a:path h="1048973" w="9164815">
                  <a:moveTo>
                    <a:pt x="0" y="0"/>
                  </a:moveTo>
                  <a:lnTo>
                    <a:pt x="9164815" y="0"/>
                  </a:lnTo>
                  <a:lnTo>
                    <a:pt x="9164815" y="1048973"/>
                  </a:lnTo>
                  <a:lnTo>
                    <a:pt x="0" y="10489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696" r="40344" b="-4241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9164815" cy="1048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6198" indent="-163099" lvl="1">
                <a:lnSpc>
                  <a:spcPts val="1813"/>
                </a:lnSpc>
                <a:buFont typeface="Arial"/>
                <a:buChar char="•"/>
              </a:pPr>
              <a:r>
                <a:rPr lang="en-US" sz="151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5–8 blind or low-vision users </a:t>
              </a:r>
            </a:p>
            <a:p>
              <a:pPr algn="l" marL="326198" indent="-163099" lvl="1">
                <a:lnSpc>
                  <a:spcPts val="1813"/>
                </a:lnSpc>
                <a:buFont typeface="Arial"/>
                <a:buChar char="•"/>
              </a:pPr>
              <a:r>
                <a:rPr lang="en-US" sz="151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one onboarding task in a safe sandbox  </a:t>
              </a:r>
            </a:p>
            <a:p>
              <a:pPr algn="l" marL="326198" indent="-163099" lvl="1">
                <a:lnSpc>
                  <a:spcPts val="1813"/>
                </a:lnSpc>
                <a:buFont typeface="Arial"/>
                <a:buChar char="•"/>
              </a:pPr>
              <a:r>
                <a:rPr lang="en-US" sz="151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screen reader alone vs. screen reader + prototype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29938" y="7091362"/>
            <a:ext cx="5176224" cy="1085850"/>
            <a:chOff x="0" y="0"/>
            <a:chExt cx="6901632" cy="14478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901632" cy="1447800"/>
              <a:chOff x="0" y="0"/>
              <a:chExt cx="6901632" cy="1447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901632" cy="1447800"/>
              </a:xfrm>
              <a:custGeom>
                <a:avLst/>
                <a:gdLst/>
                <a:ahLst/>
                <a:cxnLst/>
                <a:rect r="r" b="b" t="t" l="l"/>
                <a:pathLst>
                  <a:path h="1447800" w="6901632">
                    <a:moveTo>
                      <a:pt x="0" y="0"/>
                    </a:moveTo>
                    <a:lnTo>
                      <a:pt x="6901632" y="0"/>
                    </a:lnTo>
                    <a:lnTo>
                      <a:pt x="6901632" y="1447800"/>
                    </a:lnTo>
                    <a:lnTo>
                      <a:pt x="0" y="144780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A7ADB7"/>
                </a:solidFill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0886" y="9525"/>
              <a:ext cx="152402" cy="1428750"/>
              <a:chOff x="0" y="0"/>
              <a:chExt cx="152402" cy="142875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52402" cy="1428750"/>
              </a:xfrm>
              <a:custGeom>
                <a:avLst/>
                <a:gdLst/>
                <a:ahLst/>
                <a:cxnLst/>
                <a:rect r="r" b="b" t="t" l="l"/>
                <a:pathLst>
                  <a:path h="1428750" w="152402">
                    <a:moveTo>
                      <a:pt x="0" y="0"/>
                    </a:moveTo>
                    <a:lnTo>
                      <a:pt x="152402" y="0"/>
                    </a:lnTo>
                    <a:lnTo>
                      <a:pt x="152402" y="1428750"/>
                    </a:lnTo>
                    <a:lnTo>
                      <a:pt x="0" y="1428750"/>
                    </a:lnTo>
                    <a:close/>
                  </a:path>
                </a:pathLst>
              </a:custGeom>
              <a:solidFill>
                <a:srgbClr val="21B5E5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381005" y="161925"/>
              <a:ext cx="6270253" cy="443413"/>
              <a:chOff x="0" y="0"/>
              <a:chExt cx="6270253" cy="44341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6270253" cy="443413"/>
              </a:xfrm>
              <a:custGeom>
                <a:avLst/>
                <a:gdLst/>
                <a:ahLst/>
                <a:cxnLst/>
                <a:rect r="r" b="b" t="t" l="l"/>
                <a:pathLst>
                  <a:path h="443413" w="6270253">
                    <a:moveTo>
                      <a:pt x="0" y="0"/>
                    </a:moveTo>
                    <a:lnTo>
                      <a:pt x="6270253" y="0"/>
                    </a:lnTo>
                    <a:lnTo>
                      <a:pt x="6270253" y="443413"/>
                    </a:lnTo>
                    <a:lnTo>
                      <a:pt x="0" y="44341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91684" r="12501" b="-190497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9525"/>
                <a:ext cx="6270253" cy="4338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67"/>
                  </a:lnSpc>
                </a:pPr>
                <a:r>
                  <a:rPr lang="en-US" sz="1556" b="true">
                    <a:solidFill>
                      <a:srgbClr val="000054"/>
                    </a:solidFill>
                    <a:latin typeface="Be Vietnam Pro Bold"/>
                    <a:ea typeface="Be Vietnam Pro Bold"/>
                    <a:cs typeface="Be Vietnam Pro Bold"/>
                    <a:sym typeface="Be Vietnam Pro Bold"/>
                  </a:rPr>
                  <a:t>ROLES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81005" y="657225"/>
              <a:ext cx="6248481" cy="712794"/>
              <a:chOff x="0" y="0"/>
              <a:chExt cx="6248481" cy="71279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248481" cy="712794"/>
              </a:xfrm>
              <a:custGeom>
                <a:avLst/>
                <a:gdLst/>
                <a:ahLst/>
                <a:cxnLst/>
                <a:rect r="r" b="b" t="t" l="l"/>
                <a:pathLst>
                  <a:path h="712794" w="6248481">
                    <a:moveTo>
                      <a:pt x="0" y="0"/>
                    </a:moveTo>
                    <a:lnTo>
                      <a:pt x="6248481" y="0"/>
                    </a:lnTo>
                    <a:lnTo>
                      <a:pt x="6248481" y="712794"/>
                    </a:lnTo>
                    <a:lnTo>
                      <a:pt x="0" y="71279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4022" r="12501" b="-94890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0"/>
                <a:ext cx="6248481" cy="7127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732"/>
                  </a:lnSpc>
                </a:pPr>
                <a:r>
                  <a:rPr lang="en-US" sz="1443">
                    <a:solidFill>
                      <a:srgbClr val="1C2530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Participant: performs task · Facilitator: prompts neutrally · Observer: records behaviour and metrics.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258644" y="6091715"/>
            <a:ext cx="9256548" cy="2509360"/>
            <a:chOff x="0" y="0"/>
            <a:chExt cx="12342064" cy="3345814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2342064" cy="3345814"/>
              <a:chOff x="0" y="0"/>
              <a:chExt cx="7383667" cy="200164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7383666" cy="2001640"/>
              </a:xfrm>
              <a:custGeom>
                <a:avLst/>
                <a:gdLst/>
                <a:ahLst/>
                <a:cxnLst/>
                <a:rect r="r" b="b" t="t" l="l"/>
                <a:pathLst>
                  <a:path h="2001640" w="7383666">
                    <a:moveTo>
                      <a:pt x="0" y="0"/>
                    </a:moveTo>
                    <a:lnTo>
                      <a:pt x="7383666" y="0"/>
                    </a:lnTo>
                    <a:lnTo>
                      <a:pt x="7383666" y="2001640"/>
                    </a:lnTo>
                    <a:lnTo>
                      <a:pt x="0" y="2001640"/>
                    </a:ln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A7ADB7"/>
                </a:solidFill>
                <a:prstDash val="solid"/>
                <a:miter/>
              </a:ln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9406" y="19229"/>
              <a:ext cx="271681" cy="3307356"/>
              <a:chOff x="0" y="0"/>
              <a:chExt cx="162534" cy="197863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62534" cy="1978633"/>
              </a:xfrm>
              <a:custGeom>
                <a:avLst/>
                <a:gdLst/>
                <a:ahLst/>
                <a:cxnLst/>
                <a:rect r="r" b="b" t="t" l="l"/>
                <a:pathLst>
                  <a:path h="1978633" w="162534">
                    <a:moveTo>
                      <a:pt x="0" y="0"/>
                    </a:moveTo>
                    <a:lnTo>
                      <a:pt x="162534" y="0"/>
                    </a:lnTo>
                    <a:lnTo>
                      <a:pt x="162534" y="1978633"/>
                    </a:lnTo>
                    <a:lnTo>
                      <a:pt x="0" y="1978633"/>
                    </a:lnTo>
                    <a:close/>
                  </a:path>
                </a:pathLst>
              </a:custGeom>
              <a:solidFill>
                <a:srgbClr val="ED1B2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679202" y="326890"/>
              <a:ext cx="11216530" cy="884526"/>
              <a:chOff x="0" y="0"/>
              <a:chExt cx="6710313" cy="529169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710314" cy="529169"/>
              </a:xfrm>
              <a:custGeom>
                <a:avLst/>
                <a:gdLst/>
                <a:ahLst/>
                <a:cxnLst/>
                <a:rect r="r" b="b" t="t" l="l"/>
                <a:pathLst>
                  <a:path h="529169" w="6710314">
                    <a:moveTo>
                      <a:pt x="0" y="0"/>
                    </a:moveTo>
                    <a:lnTo>
                      <a:pt x="6710314" y="0"/>
                    </a:lnTo>
                    <a:lnTo>
                      <a:pt x="6710314" y="529169"/>
                    </a:lnTo>
                    <a:lnTo>
                      <a:pt x="0" y="52916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61321" r="17955" b="-144121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9525"/>
                <a:ext cx="6710313" cy="5386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000054"/>
                    </a:solidFill>
                    <a:latin typeface="Be Vietnam Pro Bold"/>
                    <a:ea typeface="Be Vietnam Pro Bold"/>
                    <a:cs typeface="Be Vietnam Pro Bold"/>
                    <a:sym typeface="Be Vietnam Pro Bold"/>
                  </a:rPr>
                  <a:t>OBJECTIVE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679202" y="1326788"/>
              <a:ext cx="11177718" cy="1730593"/>
              <a:chOff x="0" y="0"/>
              <a:chExt cx="6687094" cy="103533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6687094" cy="1035331"/>
              </a:xfrm>
              <a:custGeom>
                <a:avLst/>
                <a:gdLst/>
                <a:ahLst/>
                <a:cxnLst/>
                <a:rect r="r" b="b" t="t" l="l"/>
                <a:pathLst>
                  <a:path h="1035331" w="6687094">
                    <a:moveTo>
                      <a:pt x="0" y="0"/>
                    </a:moveTo>
                    <a:lnTo>
                      <a:pt x="6687094" y="0"/>
                    </a:lnTo>
                    <a:lnTo>
                      <a:pt x="6687094" y="1035331"/>
                    </a:lnTo>
                    <a:lnTo>
                      <a:pt x="0" y="1035331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61854" r="17955" b="-44654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9525"/>
                <a:ext cx="6687094" cy="10448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C2530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Test independence, speed, confidence, understanding and user control. ALWAYS READY TO BE ITERATIVE.</a:t>
                </a:r>
              </a:p>
            </p:txBody>
          </p:sp>
        </p:grpSp>
      </p:grpSp>
      <p:grpSp>
        <p:nvGrpSpPr>
          <p:cNvPr name="Group 56" id="56"/>
          <p:cNvGrpSpPr/>
          <p:nvPr/>
        </p:nvGrpSpPr>
        <p:grpSpPr>
          <a:xfrm rot="0">
            <a:off x="1250156" y="4393406"/>
            <a:ext cx="5398210" cy="1507808"/>
            <a:chOff x="0" y="0"/>
            <a:chExt cx="6138201" cy="17145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138201" cy="1714500"/>
            </a:xfrm>
            <a:custGeom>
              <a:avLst/>
              <a:gdLst/>
              <a:ahLst/>
              <a:cxnLst/>
              <a:rect r="r" b="b" t="t" l="l"/>
              <a:pathLst>
                <a:path h="1714500" w="6138201">
                  <a:moveTo>
                    <a:pt x="0" y="0"/>
                  </a:moveTo>
                  <a:lnTo>
                    <a:pt x="6138201" y="0"/>
                  </a:lnTo>
                  <a:lnTo>
                    <a:pt x="6138201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58644" y="4401783"/>
            <a:ext cx="118829" cy="1491055"/>
            <a:chOff x="0" y="0"/>
            <a:chExt cx="135118" cy="16954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5118" cy="1695450"/>
            </a:xfrm>
            <a:custGeom>
              <a:avLst/>
              <a:gdLst/>
              <a:ahLst/>
              <a:cxnLst/>
              <a:rect r="r" b="b" t="t" l="l"/>
              <a:pathLst>
                <a:path h="1695450" w="135118">
                  <a:moveTo>
                    <a:pt x="0" y="0"/>
                  </a:moveTo>
                  <a:lnTo>
                    <a:pt x="135118" y="0"/>
                  </a:lnTo>
                  <a:lnTo>
                    <a:pt x="135118" y="1695450"/>
                  </a:lnTo>
                  <a:lnTo>
                    <a:pt x="0" y="1695450"/>
                  </a:lnTo>
                  <a:close/>
                </a:path>
              </a:pathLst>
            </a:custGeom>
            <a:solidFill>
              <a:srgbClr val="FFD75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547228" y="4535810"/>
            <a:ext cx="4905921" cy="385329"/>
            <a:chOff x="0" y="0"/>
            <a:chExt cx="5578428" cy="4381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78428" cy="438150"/>
            </a:xfrm>
            <a:custGeom>
              <a:avLst/>
              <a:gdLst/>
              <a:ahLst/>
              <a:cxnLst/>
              <a:rect r="r" b="b" t="t" l="l"/>
              <a:pathLst>
                <a:path h="438150" w="5578428">
                  <a:moveTo>
                    <a:pt x="0" y="0"/>
                  </a:moveTo>
                  <a:lnTo>
                    <a:pt x="5578428" y="0"/>
                  </a:lnTo>
                  <a:lnTo>
                    <a:pt x="5578428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833" r="1308" b="-1948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578428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PROCEDURE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47228" y="4971399"/>
            <a:ext cx="4888945" cy="804164"/>
            <a:chOff x="0" y="0"/>
            <a:chExt cx="5559126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59126" cy="914400"/>
            </a:xfrm>
            <a:custGeom>
              <a:avLst/>
              <a:gdLst/>
              <a:ahLst/>
              <a:cxnLst/>
              <a:rect r="r" b="b" t="t" l="l"/>
              <a:pathLst>
                <a:path h="914400" w="5559126">
                  <a:moveTo>
                    <a:pt x="0" y="0"/>
                  </a:moveTo>
                  <a:lnTo>
                    <a:pt x="5559126" y="0"/>
                  </a:lnTo>
                  <a:lnTo>
                    <a:pt x="555912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1308" b="-6691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55912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Baseline → prototype → retrospective interview → feedback grid.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872288" y="4333875"/>
            <a:ext cx="3709988" cy="1567340"/>
            <a:chOff x="0" y="0"/>
            <a:chExt cx="4293988" cy="181405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93988" cy="1814059"/>
            </a:xfrm>
            <a:custGeom>
              <a:avLst/>
              <a:gdLst/>
              <a:ahLst/>
              <a:cxnLst/>
              <a:rect r="r" b="b" t="t" l="l"/>
              <a:pathLst>
                <a:path h="1814059" w="4293988">
                  <a:moveTo>
                    <a:pt x="0" y="0"/>
                  </a:moveTo>
                  <a:lnTo>
                    <a:pt x="4293988" y="0"/>
                  </a:lnTo>
                  <a:lnTo>
                    <a:pt x="4293988" y="1814059"/>
                  </a:lnTo>
                  <a:lnTo>
                    <a:pt x="0" y="1814059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878121" y="4344186"/>
            <a:ext cx="81666" cy="1546717"/>
            <a:chOff x="0" y="0"/>
            <a:chExt cx="94522" cy="179019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4522" cy="1790190"/>
            </a:xfrm>
            <a:custGeom>
              <a:avLst/>
              <a:gdLst/>
              <a:ahLst/>
              <a:cxnLst/>
              <a:rect r="r" b="b" t="t" l="l"/>
              <a:pathLst>
                <a:path h="1790190" w="94522">
                  <a:moveTo>
                    <a:pt x="0" y="0"/>
                  </a:moveTo>
                  <a:lnTo>
                    <a:pt x="94522" y="0"/>
                  </a:lnTo>
                  <a:lnTo>
                    <a:pt x="94522" y="1790190"/>
                  </a:lnTo>
                  <a:lnTo>
                    <a:pt x="0" y="1790190"/>
                  </a:lnTo>
                  <a:close/>
                </a:path>
              </a:pathLst>
            </a:custGeom>
            <a:solidFill>
              <a:srgbClr val="ED1B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7076453" y="4509170"/>
            <a:ext cx="3371655" cy="474326"/>
            <a:chOff x="0" y="0"/>
            <a:chExt cx="3902397" cy="5489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02397" cy="548992"/>
            </a:xfrm>
            <a:custGeom>
              <a:avLst/>
              <a:gdLst/>
              <a:ahLst/>
              <a:cxnLst/>
              <a:rect r="r" b="b" t="t" l="l"/>
              <a:pathLst>
                <a:path h="548992" w="3902397">
                  <a:moveTo>
                    <a:pt x="0" y="0"/>
                  </a:moveTo>
                  <a:lnTo>
                    <a:pt x="3902397" y="0"/>
                  </a:lnTo>
                  <a:lnTo>
                    <a:pt x="3902397" y="548992"/>
                  </a:lnTo>
                  <a:lnTo>
                    <a:pt x="0" y="548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496" r="-41078" b="-13530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02397" cy="548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KEY QUESTIONS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009370" y="4906654"/>
            <a:ext cx="3505822" cy="933655"/>
            <a:chOff x="0" y="0"/>
            <a:chExt cx="4057683" cy="108062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057683" cy="1080625"/>
            </a:xfrm>
            <a:custGeom>
              <a:avLst/>
              <a:gdLst/>
              <a:ahLst/>
              <a:cxnLst/>
              <a:rect r="r" b="b" t="t" l="l"/>
              <a:pathLst>
                <a:path h="1080625" w="4057683">
                  <a:moveTo>
                    <a:pt x="0" y="0"/>
                  </a:moveTo>
                  <a:lnTo>
                    <a:pt x="4057683" y="0"/>
                  </a:lnTo>
                  <a:lnTo>
                    <a:pt x="4057683" y="1080625"/>
                  </a:lnTo>
                  <a:lnTo>
                    <a:pt x="0" y="10806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957" r="-35210" b="-2889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9525"/>
              <a:ext cx="4057683" cy="107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Where did you feel blocked?</a:t>
              </a:r>
            </a:p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Was the guidance clear and actionable?</a:t>
              </a:r>
            </a:p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Did you understand and control each action?</a:t>
              </a:r>
            </a:p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When would you still ask a colleague for help?</a:t>
              </a:r>
            </a:p>
            <a:p>
              <a:pPr algn="l">
                <a:lnSpc>
                  <a:spcPts val="1372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955518" y="3152775"/>
            <a:ext cx="2486025" cy="1828800"/>
            <a:chOff x="0" y="0"/>
            <a:chExt cx="3314700" cy="2438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3147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0962662" y="3159919"/>
            <a:ext cx="100012" cy="1814512"/>
            <a:chOff x="0" y="0"/>
            <a:chExt cx="133350" cy="24193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3350" cy="2419350"/>
            </a:xfrm>
            <a:custGeom>
              <a:avLst/>
              <a:gdLst/>
              <a:ahLst/>
              <a:cxnLst/>
              <a:rect r="r" b="b" t="t" l="l"/>
              <a:pathLst>
                <a:path h="2419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16D3A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205549" y="3274219"/>
            <a:ext cx="2071688" cy="328612"/>
            <a:chOff x="0" y="0"/>
            <a:chExt cx="2762250" cy="4381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62250" cy="438150"/>
            </a:xfrm>
            <a:custGeom>
              <a:avLst/>
              <a:gdLst/>
              <a:ahLst/>
              <a:cxnLst/>
              <a:rect r="r" b="b" t="t" l="l"/>
              <a:pathLst>
                <a:path h="43815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2762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 LIKE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205549" y="3645694"/>
            <a:ext cx="2057400" cy="1228725"/>
            <a:chOff x="0" y="0"/>
            <a:chExt cx="2743200" cy="16383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7432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638300"/>
                  </a:lnTo>
                  <a:lnTo>
                    <a:pt x="0" y="1638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25" t="0" r="-26625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743200" cy="164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What improved clarity, confidence or independence?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570130" y="3152775"/>
            <a:ext cx="2486025" cy="1828800"/>
            <a:chOff x="0" y="0"/>
            <a:chExt cx="3314700" cy="2438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147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3577274" y="3159919"/>
            <a:ext cx="100012" cy="1814512"/>
            <a:chOff x="0" y="0"/>
            <a:chExt cx="133350" cy="24193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3350" cy="2419350"/>
            </a:xfrm>
            <a:custGeom>
              <a:avLst/>
              <a:gdLst/>
              <a:ahLst/>
              <a:cxnLst/>
              <a:rect r="r" b="b" t="t" l="l"/>
              <a:pathLst>
                <a:path h="2419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ED1B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3820162" y="3274219"/>
            <a:ext cx="2071688" cy="328612"/>
            <a:chOff x="0" y="0"/>
            <a:chExt cx="2762250" cy="43815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62250" cy="438150"/>
            </a:xfrm>
            <a:custGeom>
              <a:avLst/>
              <a:gdLst/>
              <a:ahLst/>
              <a:cxnLst/>
              <a:rect r="r" b="b" t="t" l="l"/>
              <a:pathLst>
                <a:path h="43815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2762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 WISH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820162" y="3645694"/>
            <a:ext cx="2057400" cy="1228725"/>
            <a:chOff x="0" y="0"/>
            <a:chExt cx="2743200" cy="16383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7432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638300"/>
                  </a:lnTo>
                  <a:lnTo>
                    <a:pt x="0" y="1638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25" t="0" r="-26625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2743200" cy="164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What felt confusing, inaccessible or excessive?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955518" y="5110162"/>
            <a:ext cx="2486025" cy="1828800"/>
            <a:chOff x="0" y="0"/>
            <a:chExt cx="3314700" cy="2438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3147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0962662" y="5117306"/>
            <a:ext cx="100012" cy="1814512"/>
            <a:chOff x="0" y="0"/>
            <a:chExt cx="133350" cy="24193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3350" cy="2419350"/>
            </a:xfrm>
            <a:custGeom>
              <a:avLst/>
              <a:gdLst/>
              <a:ahLst/>
              <a:cxnLst/>
              <a:rect r="r" b="b" t="t" l="l"/>
              <a:pathLst>
                <a:path h="2419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FFD75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205549" y="5231606"/>
            <a:ext cx="2071688" cy="328612"/>
            <a:chOff x="0" y="0"/>
            <a:chExt cx="2762250" cy="43815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62250" cy="438150"/>
            </a:xfrm>
            <a:custGeom>
              <a:avLst/>
              <a:gdLst/>
              <a:ahLst/>
              <a:cxnLst/>
              <a:rect r="r" b="b" t="t" l="l"/>
              <a:pathLst>
                <a:path h="43815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2762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QUESTIONS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205549" y="5603081"/>
            <a:ext cx="2057400" cy="1228725"/>
            <a:chOff x="0" y="0"/>
            <a:chExt cx="2743200" cy="16383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7432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638300"/>
                  </a:lnTo>
                  <a:lnTo>
                    <a:pt x="0" y="1638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25" t="0" r="-26625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2743200" cy="164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Which actions, trust or privacy concerns remain?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3570130" y="5110162"/>
            <a:ext cx="2486025" cy="1828800"/>
            <a:chOff x="0" y="0"/>
            <a:chExt cx="3314700" cy="24384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3147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577274" y="5117306"/>
            <a:ext cx="100012" cy="1814512"/>
            <a:chOff x="0" y="0"/>
            <a:chExt cx="133350" cy="241935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33350" cy="2419350"/>
            </a:xfrm>
            <a:custGeom>
              <a:avLst/>
              <a:gdLst/>
              <a:ahLst/>
              <a:cxnLst/>
              <a:rect r="r" b="b" t="t" l="l"/>
              <a:pathLst>
                <a:path h="2419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21B5E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820162" y="5231606"/>
            <a:ext cx="2071688" cy="328612"/>
            <a:chOff x="0" y="0"/>
            <a:chExt cx="2762250" cy="43815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762250" cy="438150"/>
            </a:xfrm>
            <a:custGeom>
              <a:avLst/>
              <a:gdLst/>
              <a:ahLst/>
              <a:cxnLst/>
              <a:rect r="r" b="b" t="t" l="l"/>
              <a:pathLst>
                <a:path h="43815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2762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7"/>
                </a:lnSpc>
              </a:pPr>
              <a:r>
                <a:rPr lang="en-US" sz="1256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IDEAS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820162" y="5603081"/>
            <a:ext cx="2057400" cy="1228725"/>
            <a:chOff x="0" y="0"/>
            <a:chExt cx="2743200" cy="16383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7432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638300"/>
                  </a:lnTo>
                  <a:lnTo>
                    <a:pt x="0" y="1638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25" t="0" r="-26625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2743200" cy="164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What should be simpler? Which context would help?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21556" y="9013031"/>
            <a:ext cx="14573250" cy="316772"/>
            <a:chOff x="0" y="0"/>
            <a:chExt cx="19431000" cy="42236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9431000" cy="422363"/>
            </a:xfrm>
            <a:custGeom>
              <a:avLst/>
              <a:gdLst/>
              <a:ahLst/>
              <a:cxnLst/>
              <a:rect r="r" b="b" t="t" l="l"/>
              <a:pathLst>
                <a:path h="422363" w="19431000">
                  <a:moveTo>
                    <a:pt x="0" y="0"/>
                  </a:moveTo>
                  <a:lnTo>
                    <a:pt x="19431000" y="0"/>
                  </a:lnTo>
                  <a:lnTo>
                    <a:pt x="19431000" y="422363"/>
                  </a:lnTo>
                  <a:lnTo>
                    <a:pt x="0" y="4223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6805" r="0" b="-84603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19431000" cy="4223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4"/>
                </a:lnSpc>
              </a:pPr>
              <a:r>
                <a:rPr lang="en-US" sz="1462" i="true">
                  <a:solidFill>
                    <a:srgbClr val="1C2530"/>
                  </a:solidFill>
                  <a:latin typeface="Be Vietnam Pro Italics"/>
                  <a:ea typeface="Be Vietnam Pro Italics"/>
                  <a:cs typeface="Be Vietnam Pro Italics"/>
                  <a:sym typeface="Be Vietnam Pro Italics"/>
                </a:rPr>
                <a:t>Planned test; results and learnings will be filled after participant sessions.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971498" y="2681288"/>
            <a:ext cx="3764945" cy="1564481"/>
            <a:chOff x="0" y="0"/>
            <a:chExt cx="5019926" cy="208597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019927" cy="2085975"/>
            </a:xfrm>
            <a:custGeom>
              <a:avLst/>
              <a:gdLst/>
              <a:ahLst/>
              <a:cxnLst/>
              <a:rect r="r" b="b" t="t" l="l"/>
              <a:pathLst>
                <a:path h="2085975" w="5019927">
                  <a:moveTo>
                    <a:pt x="0" y="0"/>
                  </a:moveTo>
                  <a:lnTo>
                    <a:pt x="5019927" y="0"/>
                  </a:lnTo>
                  <a:lnTo>
                    <a:pt x="5019927" y="2085975"/>
                  </a:lnTo>
                  <a:lnTo>
                    <a:pt x="0" y="20859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A7ADB7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6978642" y="2688431"/>
            <a:ext cx="126954" cy="1559719"/>
            <a:chOff x="0" y="0"/>
            <a:chExt cx="133350" cy="16383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33350" cy="1638300"/>
            </a:xfrm>
            <a:custGeom>
              <a:avLst/>
              <a:gdLst/>
              <a:ahLst/>
              <a:cxnLst/>
              <a:rect r="r" b="b" t="t" l="l"/>
              <a:pathLst>
                <a:path h="163830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63830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21B5E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7314688" y="2881217"/>
            <a:ext cx="2917741" cy="328803"/>
            <a:chOff x="0" y="0"/>
            <a:chExt cx="3890321" cy="43840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890321" cy="438404"/>
            </a:xfrm>
            <a:custGeom>
              <a:avLst/>
              <a:gdLst/>
              <a:ahLst/>
              <a:cxnLst/>
              <a:rect r="r" b="b" t="t" l="l"/>
              <a:pathLst>
                <a:path h="438404" w="3890321">
                  <a:moveTo>
                    <a:pt x="0" y="0"/>
                  </a:moveTo>
                  <a:lnTo>
                    <a:pt x="3890321" y="0"/>
                  </a:lnTo>
                  <a:lnTo>
                    <a:pt x="3890321" y="438404"/>
                  </a:lnTo>
                  <a:lnTo>
                    <a:pt x="0" y="438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74" r="-41026" b="-193816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3890321" cy="43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TEST CRITERIA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7209803" y="3205060"/>
            <a:ext cx="3505822" cy="933655"/>
            <a:chOff x="0" y="0"/>
            <a:chExt cx="4057683" cy="108062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057683" cy="1080625"/>
            </a:xfrm>
            <a:custGeom>
              <a:avLst/>
              <a:gdLst/>
              <a:ahLst/>
              <a:cxnLst/>
              <a:rect r="r" b="b" t="t" l="l"/>
              <a:pathLst>
                <a:path h="1080625" w="4057683">
                  <a:moveTo>
                    <a:pt x="0" y="0"/>
                  </a:moveTo>
                  <a:lnTo>
                    <a:pt x="4057683" y="0"/>
                  </a:lnTo>
                  <a:lnTo>
                    <a:pt x="4057683" y="1080625"/>
                  </a:lnTo>
                  <a:lnTo>
                    <a:pt x="0" y="10806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957" r="-35210" b="-2889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9525"/>
              <a:ext cx="4057683" cy="107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≥80% task completion.</a:t>
              </a:r>
            </a:p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≥75% without human help.</a:t>
              </a:r>
            </a:p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≥20% faster than baseline.</a:t>
              </a:r>
            </a:p>
            <a:p>
              <a:pPr algn="l" marL="246937" indent="-123469" lvl="1">
                <a:lnSpc>
                  <a:spcPts val="1372"/>
                </a:lnSpc>
                <a:buFont typeface="Arial"/>
                <a:buChar char="•"/>
              </a:pPr>
              <a:r>
                <a:rPr lang="en-US" sz="1143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Zero critical errors or accessibility blockers.</a:t>
              </a:r>
            </a:p>
            <a:p>
              <a:pPr algn="l">
                <a:lnSpc>
                  <a:spcPts val="1372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" y="1928812"/>
            <a:ext cx="16359188" cy="7715250"/>
            <a:chOff x="0" y="0"/>
            <a:chExt cx="2181225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38288"/>
            <a:ext cx="7429500" cy="342900"/>
            <a:chOff x="0" y="0"/>
            <a:chExt cx="99060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99060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APPENDIX  |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9413" y="637325"/>
            <a:ext cx="6505120" cy="906712"/>
            <a:chOff x="0" y="0"/>
            <a:chExt cx="8673493" cy="1208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73493" cy="1208950"/>
            </a:xfrm>
            <a:custGeom>
              <a:avLst/>
              <a:gdLst/>
              <a:ahLst/>
              <a:cxnLst/>
              <a:rect r="r" b="b" t="t" l="l"/>
              <a:pathLst>
                <a:path h="1208950" w="8673493">
                  <a:moveTo>
                    <a:pt x="0" y="0"/>
                  </a:moveTo>
                  <a:lnTo>
                    <a:pt x="8673493" y="0"/>
                  </a:lnTo>
                  <a:lnTo>
                    <a:pt x="8673493" y="1208950"/>
                  </a:lnTo>
                  <a:lnTo>
                    <a:pt x="0" y="1208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911" r="-132812" b="-2680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8673493" cy="1199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4"/>
                </a:lnSpc>
              </a:pPr>
              <a:r>
                <a:rPr lang="en-US" sz="4162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Risk management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9413" y="2369582"/>
            <a:ext cx="2447449" cy="618649"/>
            <a:chOff x="0" y="0"/>
            <a:chExt cx="3263265" cy="824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63265" cy="824865"/>
            </a:xfrm>
            <a:custGeom>
              <a:avLst/>
              <a:gdLst/>
              <a:ahLst/>
              <a:cxnLst/>
              <a:rect r="r" b="b" t="t" l="l"/>
              <a:pathLst>
                <a:path h="824865" w="3263265">
                  <a:moveTo>
                    <a:pt x="0" y="0"/>
                  </a:moveTo>
                  <a:lnTo>
                    <a:pt x="3263265" y="0"/>
                  </a:lnTo>
                  <a:lnTo>
                    <a:pt x="3263265" y="824865"/>
                  </a:lnTo>
                  <a:lnTo>
                    <a:pt x="0" y="824865"/>
                  </a:lnTo>
                  <a:close/>
                </a:path>
              </a:pathLst>
            </a:custGeom>
            <a:solidFill>
              <a:srgbClr val="052A68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0" y="2436019"/>
            <a:ext cx="2200275" cy="485775"/>
            <a:chOff x="0" y="0"/>
            <a:chExt cx="2933700" cy="647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33700" cy="647700"/>
            </a:xfrm>
            <a:custGeom>
              <a:avLst/>
              <a:gdLst/>
              <a:ahLst/>
              <a:cxnLst/>
              <a:rect r="r" b="b" t="t" l="l"/>
              <a:pathLst>
                <a:path h="64770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55" r="0" b="-382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9337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AREA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8288" y="2369582"/>
            <a:ext cx="3519011" cy="618649"/>
            <a:chOff x="0" y="0"/>
            <a:chExt cx="4692015" cy="824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92015" cy="824865"/>
            </a:xfrm>
            <a:custGeom>
              <a:avLst/>
              <a:gdLst/>
              <a:ahLst/>
              <a:cxnLst/>
              <a:rect r="r" b="b" t="t" l="l"/>
              <a:pathLst>
                <a:path h="824865" w="4692015">
                  <a:moveTo>
                    <a:pt x="0" y="0"/>
                  </a:moveTo>
                  <a:lnTo>
                    <a:pt x="4692015" y="0"/>
                  </a:lnTo>
                  <a:lnTo>
                    <a:pt x="4692015" y="824865"/>
                  </a:lnTo>
                  <a:lnTo>
                    <a:pt x="0" y="824865"/>
                  </a:lnTo>
                  <a:close/>
                </a:path>
              </a:pathLst>
            </a:custGeom>
            <a:solidFill>
              <a:srgbClr val="052A68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571875" y="2436019"/>
            <a:ext cx="3271838" cy="485775"/>
            <a:chOff x="0" y="0"/>
            <a:chExt cx="4362450" cy="647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62450" cy="647700"/>
            </a:xfrm>
            <a:custGeom>
              <a:avLst/>
              <a:gdLst/>
              <a:ahLst/>
              <a:cxnLst/>
              <a:rect r="r" b="b" t="t" l="l"/>
              <a:pathLst>
                <a:path h="64770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237" r="0" b="-812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3624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KEY RISK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48726" y="2369582"/>
            <a:ext cx="1733074" cy="618649"/>
            <a:chOff x="0" y="0"/>
            <a:chExt cx="2310765" cy="8248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10765" cy="824865"/>
            </a:xfrm>
            <a:custGeom>
              <a:avLst/>
              <a:gdLst/>
              <a:ahLst/>
              <a:cxnLst/>
              <a:rect r="r" b="b" t="t" l="l"/>
              <a:pathLst>
                <a:path h="82486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24865"/>
                  </a:lnTo>
                  <a:lnTo>
                    <a:pt x="0" y="824865"/>
                  </a:lnTo>
                  <a:close/>
                </a:path>
              </a:pathLst>
            </a:custGeom>
            <a:solidFill>
              <a:srgbClr val="052A68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072312" y="2436019"/>
            <a:ext cx="1485900" cy="485775"/>
            <a:chOff x="0" y="0"/>
            <a:chExt cx="1981200" cy="647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81200" cy="647700"/>
            </a:xfrm>
            <a:custGeom>
              <a:avLst/>
              <a:gdLst/>
              <a:ahLst/>
              <a:cxnLst/>
              <a:rect r="r" b="b" t="t" l="l"/>
              <a:pathLst>
                <a:path h="6477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01" r="0" b="-96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981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SCORE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663226" y="2369582"/>
            <a:ext cx="4304824" cy="618649"/>
            <a:chOff x="0" y="0"/>
            <a:chExt cx="5739765" cy="824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39765" cy="824865"/>
            </a:xfrm>
            <a:custGeom>
              <a:avLst/>
              <a:gdLst/>
              <a:ahLst/>
              <a:cxnLst/>
              <a:rect r="r" b="b" t="t" l="l"/>
              <a:pathLst>
                <a:path h="824865" w="5739765">
                  <a:moveTo>
                    <a:pt x="0" y="0"/>
                  </a:moveTo>
                  <a:lnTo>
                    <a:pt x="5739765" y="0"/>
                  </a:lnTo>
                  <a:lnTo>
                    <a:pt x="5739765" y="824865"/>
                  </a:lnTo>
                  <a:lnTo>
                    <a:pt x="0" y="824865"/>
                  </a:lnTo>
                  <a:close/>
                </a:path>
              </a:pathLst>
            </a:custGeom>
            <a:solidFill>
              <a:srgbClr val="052A68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786812" y="2436019"/>
            <a:ext cx="4057650" cy="485775"/>
            <a:chOff x="0" y="0"/>
            <a:chExt cx="5410200" cy="647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0200" cy="647700"/>
            </a:xfrm>
            <a:custGeom>
              <a:avLst/>
              <a:gdLst/>
              <a:ahLst/>
              <a:cxnLst/>
              <a:rect r="r" b="b" t="t" l="l"/>
              <a:pathLst>
                <a:path h="6477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757" r="0" b="-1127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410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MITIGATION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9413" y="2969657"/>
            <a:ext cx="2447449" cy="661511"/>
            <a:chOff x="0" y="0"/>
            <a:chExt cx="3263265" cy="8820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63265" cy="882015"/>
            </a:xfrm>
            <a:custGeom>
              <a:avLst/>
              <a:gdLst/>
              <a:ahLst/>
              <a:cxnLst/>
              <a:rect r="r" b="b" t="t" l="l"/>
              <a:pathLst>
                <a:path h="882015" w="3263265">
                  <a:moveTo>
                    <a:pt x="0" y="0"/>
                  </a:moveTo>
                  <a:lnTo>
                    <a:pt x="3263265" y="0"/>
                  </a:lnTo>
                  <a:lnTo>
                    <a:pt x="32632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43000" y="3036094"/>
            <a:ext cx="2200275" cy="528638"/>
            <a:chOff x="0" y="0"/>
            <a:chExt cx="2933700" cy="7048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33700" cy="704850"/>
            </a:xfrm>
            <a:custGeom>
              <a:avLst/>
              <a:gdLst/>
              <a:ahLst/>
              <a:cxnLst/>
              <a:rect r="r" b="b" t="t" l="l"/>
              <a:pathLst>
                <a:path h="70485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0" b="-310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9337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AI guidance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48288" y="2969657"/>
            <a:ext cx="3519011" cy="661511"/>
            <a:chOff x="0" y="0"/>
            <a:chExt cx="4692015" cy="8820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92015" cy="882015"/>
            </a:xfrm>
            <a:custGeom>
              <a:avLst/>
              <a:gdLst/>
              <a:ahLst/>
              <a:cxnLst/>
              <a:rect r="r" b="b" t="t" l="l"/>
              <a:pathLst>
                <a:path h="882015" w="4692015">
                  <a:moveTo>
                    <a:pt x="0" y="0"/>
                  </a:moveTo>
                  <a:lnTo>
                    <a:pt x="4692015" y="0"/>
                  </a:lnTo>
                  <a:lnTo>
                    <a:pt x="469201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3571875" y="3036094"/>
            <a:ext cx="2503593" cy="528638"/>
            <a:chOff x="0" y="0"/>
            <a:chExt cx="3338124" cy="7048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38123" cy="704850"/>
            </a:xfrm>
            <a:custGeom>
              <a:avLst/>
              <a:gdLst/>
              <a:ahLst/>
              <a:cxnLst/>
              <a:rect r="r" b="b" t="t" l="l"/>
              <a:pathLst>
                <a:path h="704850" w="3338123">
                  <a:moveTo>
                    <a:pt x="0" y="0"/>
                  </a:moveTo>
                  <a:lnTo>
                    <a:pt x="3338123" y="0"/>
                  </a:lnTo>
                  <a:lnTo>
                    <a:pt x="3338123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96" r="-30685" b="-7059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338124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Wrong action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48726" y="2969657"/>
            <a:ext cx="1733074" cy="661511"/>
            <a:chOff x="0" y="0"/>
            <a:chExt cx="2310765" cy="8820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10765" cy="882015"/>
            </a:xfrm>
            <a:custGeom>
              <a:avLst/>
              <a:gdLst/>
              <a:ahLst/>
              <a:cxnLst/>
              <a:rect r="r" b="b" t="t" l="l"/>
              <a:pathLst>
                <a:path h="88201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072312" y="3036094"/>
            <a:ext cx="1485900" cy="528638"/>
            <a:chOff x="0" y="0"/>
            <a:chExt cx="1981200" cy="7048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5×4 = 20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663226" y="2969657"/>
            <a:ext cx="4304824" cy="661511"/>
            <a:chOff x="0" y="0"/>
            <a:chExt cx="5739765" cy="8820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39765" cy="882015"/>
            </a:xfrm>
            <a:custGeom>
              <a:avLst/>
              <a:gdLst/>
              <a:ahLst/>
              <a:cxnLst/>
              <a:rect r="r" b="b" t="t" l="l"/>
              <a:pathLst>
                <a:path h="882015" w="5739765">
                  <a:moveTo>
                    <a:pt x="0" y="0"/>
                  </a:moveTo>
                  <a:lnTo>
                    <a:pt x="5739765" y="0"/>
                  </a:lnTo>
                  <a:lnTo>
                    <a:pt x="5739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786812" y="3036094"/>
            <a:ext cx="4057650" cy="528638"/>
            <a:chOff x="0" y="0"/>
            <a:chExt cx="5410200" cy="7048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10200" cy="704850"/>
            </a:xfrm>
            <a:custGeom>
              <a:avLst/>
              <a:gdLst/>
              <a:ahLst/>
              <a:cxnLst/>
              <a:rect r="r" b="b" t="t" l="l"/>
              <a:pathLst>
                <a:path h="70485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60" r="0" b="-995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410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Confirm before action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19413" y="3612594"/>
            <a:ext cx="2447449" cy="661511"/>
            <a:chOff x="0" y="0"/>
            <a:chExt cx="3263265" cy="88201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63265" cy="882015"/>
            </a:xfrm>
            <a:custGeom>
              <a:avLst/>
              <a:gdLst/>
              <a:ahLst/>
              <a:cxnLst/>
              <a:rect r="r" b="b" t="t" l="l"/>
              <a:pathLst>
                <a:path h="882015" w="3263265">
                  <a:moveTo>
                    <a:pt x="0" y="0"/>
                  </a:moveTo>
                  <a:lnTo>
                    <a:pt x="3263265" y="0"/>
                  </a:lnTo>
                  <a:lnTo>
                    <a:pt x="32632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43000" y="3679031"/>
            <a:ext cx="2200275" cy="528638"/>
            <a:chOff x="0" y="0"/>
            <a:chExt cx="2933700" cy="7048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33700" cy="704850"/>
            </a:xfrm>
            <a:custGeom>
              <a:avLst/>
              <a:gdLst/>
              <a:ahLst/>
              <a:cxnLst/>
              <a:rect r="r" b="b" t="t" l="l"/>
              <a:pathLst>
                <a:path h="70485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0" b="-3109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9337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Accessibility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448288" y="3612594"/>
            <a:ext cx="3519011" cy="661511"/>
            <a:chOff x="0" y="0"/>
            <a:chExt cx="4692015" cy="88201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692015" cy="882015"/>
            </a:xfrm>
            <a:custGeom>
              <a:avLst/>
              <a:gdLst/>
              <a:ahLst/>
              <a:cxnLst/>
              <a:rect r="r" b="b" t="t" l="l"/>
              <a:pathLst>
                <a:path h="882015" w="4692015">
                  <a:moveTo>
                    <a:pt x="0" y="0"/>
                  </a:moveTo>
                  <a:lnTo>
                    <a:pt x="4692015" y="0"/>
                  </a:lnTo>
                  <a:lnTo>
                    <a:pt x="469201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3571875" y="3679031"/>
            <a:ext cx="3271838" cy="528638"/>
            <a:chOff x="0" y="0"/>
            <a:chExt cx="4362450" cy="7048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62450" cy="704850"/>
            </a:xfrm>
            <a:custGeom>
              <a:avLst/>
              <a:gdLst/>
              <a:ahLst/>
              <a:cxnLst/>
              <a:rect r="r" b="b" t="t" l="l"/>
              <a:pathLst>
                <a:path h="7048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96" r="0" b="-705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3624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Screen-reader blocker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48726" y="3612594"/>
            <a:ext cx="1733074" cy="661511"/>
            <a:chOff x="0" y="0"/>
            <a:chExt cx="2310765" cy="88201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10765" cy="882015"/>
            </a:xfrm>
            <a:custGeom>
              <a:avLst/>
              <a:gdLst/>
              <a:ahLst/>
              <a:cxnLst/>
              <a:rect r="r" b="b" t="t" l="l"/>
              <a:pathLst>
                <a:path h="88201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072312" y="3679031"/>
            <a:ext cx="1485900" cy="528638"/>
            <a:chOff x="0" y="0"/>
            <a:chExt cx="1981200" cy="7048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5×4 = 20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663226" y="3612594"/>
            <a:ext cx="4304824" cy="661511"/>
            <a:chOff x="0" y="0"/>
            <a:chExt cx="5739765" cy="88201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739765" cy="882015"/>
            </a:xfrm>
            <a:custGeom>
              <a:avLst/>
              <a:gdLst/>
              <a:ahLst/>
              <a:cxnLst/>
              <a:rect r="r" b="b" t="t" l="l"/>
              <a:pathLst>
                <a:path h="882015" w="5739765">
                  <a:moveTo>
                    <a:pt x="0" y="0"/>
                  </a:moveTo>
                  <a:lnTo>
                    <a:pt x="5739765" y="0"/>
                  </a:lnTo>
                  <a:lnTo>
                    <a:pt x="5739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8786812" y="3679031"/>
            <a:ext cx="4057650" cy="528638"/>
            <a:chOff x="0" y="0"/>
            <a:chExt cx="5410200" cy="7048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10200" cy="704850"/>
            </a:xfrm>
            <a:custGeom>
              <a:avLst/>
              <a:gdLst/>
              <a:ahLst/>
              <a:cxnLst/>
              <a:rect r="r" b="b" t="t" l="l"/>
              <a:pathLst>
                <a:path h="70485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60" r="0" b="-995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410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Keyboard and reader testing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9413" y="4255532"/>
            <a:ext cx="2447449" cy="661511"/>
            <a:chOff x="0" y="0"/>
            <a:chExt cx="3263265" cy="88201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63265" cy="882015"/>
            </a:xfrm>
            <a:custGeom>
              <a:avLst/>
              <a:gdLst/>
              <a:ahLst/>
              <a:cxnLst/>
              <a:rect r="r" b="b" t="t" l="l"/>
              <a:pathLst>
                <a:path h="882015" w="3263265">
                  <a:moveTo>
                    <a:pt x="0" y="0"/>
                  </a:moveTo>
                  <a:lnTo>
                    <a:pt x="3263265" y="0"/>
                  </a:lnTo>
                  <a:lnTo>
                    <a:pt x="32632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143000" y="4321969"/>
            <a:ext cx="2200275" cy="528638"/>
            <a:chOff x="0" y="0"/>
            <a:chExt cx="2933700" cy="7048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33700" cy="704850"/>
            </a:xfrm>
            <a:custGeom>
              <a:avLst/>
              <a:gdLst/>
              <a:ahLst/>
              <a:cxnLst/>
              <a:rect r="r" b="b" t="t" l="l"/>
              <a:pathLst>
                <a:path h="70485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0" b="-3109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9337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Sensitive actions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448288" y="4255532"/>
            <a:ext cx="3519011" cy="661511"/>
            <a:chOff x="0" y="0"/>
            <a:chExt cx="4692015" cy="88201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692015" cy="882015"/>
            </a:xfrm>
            <a:custGeom>
              <a:avLst/>
              <a:gdLst/>
              <a:ahLst/>
              <a:cxnLst/>
              <a:rect r="r" b="b" t="t" l="l"/>
              <a:pathLst>
                <a:path h="882015" w="4692015">
                  <a:moveTo>
                    <a:pt x="0" y="0"/>
                  </a:moveTo>
                  <a:lnTo>
                    <a:pt x="4692015" y="0"/>
                  </a:lnTo>
                  <a:lnTo>
                    <a:pt x="469201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3571875" y="4321969"/>
            <a:ext cx="3271838" cy="528638"/>
            <a:chOff x="0" y="0"/>
            <a:chExt cx="4362450" cy="7048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62450" cy="704850"/>
            </a:xfrm>
            <a:custGeom>
              <a:avLst/>
              <a:gdLst/>
              <a:ahLst/>
              <a:cxnLst/>
              <a:rect r="r" b="b" t="t" l="l"/>
              <a:pathLst>
                <a:path h="7048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96" r="0" b="-7059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3624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Unintended submit/delete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48726" y="4255532"/>
            <a:ext cx="1733074" cy="661511"/>
            <a:chOff x="0" y="0"/>
            <a:chExt cx="2310765" cy="88201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310765" cy="882015"/>
            </a:xfrm>
            <a:custGeom>
              <a:avLst/>
              <a:gdLst/>
              <a:ahLst/>
              <a:cxnLst/>
              <a:rect r="r" b="b" t="t" l="l"/>
              <a:pathLst>
                <a:path h="88201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7072312" y="4321969"/>
            <a:ext cx="1485900" cy="528638"/>
            <a:chOff x="0" y="0"/>
            <a:chExt cx="1981200" cy="70485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5×3 = 15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663226" y="4255532"/>
            <a:ext cx="4304824" cy="661511"/>
            <a:chOff x="0" y="0"/>
            <a:chExt cx="5739765" cy="88201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39765" cy="882015"/>
            </a:xfrm>
            <a:custGeom>
              <a:avLst/>
              <a:gdLst/>
              <a:ahLst/>
              <a:cxnLst/>
              <a:rect r="r" b="b" t="t" l="l"/>
              <a:pathLst>
                <a:path h="882015" w="5739765">
                  <a:moveTo>
                    <a:pt x="0" y="0"/>
                  </a:moveTo>
                  <a:lnTo>
                    <a:pt x="5739765" y="0"/>
                  </a:lnTo>
                  <a:lnTo>
                    <a:pt x="5739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8786812" y="4321969"/>
            <a:ext cx="4057650" cy="528638"/>
            <a:chOff x="0" y="0"/>
            <a:chExt cx="5410200" cy="70485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10200" cy="704850"/>
            </a:xfrm>
            <a:custGeom>
              <a:avLst/>
              <a:gdLst/>
              <a:ahLst/>
              <a:cxnLst/>
              <a:rect r="r" b="b" t="t" l="l"/>
              <a:pathLst>
                <a:path h="70485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60" r="0" b="-995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5410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Read-only, confirm, undo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19413" y="4898469"/>
            <a:ext cx="2447449" cy="661511"/>
            <a:chOff x="0" y="0"/>
            <a:chExt cx="3263265" cy="88201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263265" cy="882015"/>
            </a:xfrm>
            <a:custGeom>
              <a:avLst/>
              <a:gdLst/>
              <a:ahLst/>
              <a:cxnLst/>
              <a:rect r="r" b="b" t="t" l="l"/>
              <a:pathLst>
                <a:path h="882015" w="3263265">
                  <a:moveTo>
                    <a:pt x="0" y="0"/>
                  </a:moveTo>
                  <a:lnTo>
                    <a:pt x="3263265" y="0"/>
                  </a:lnTo>
                  <a:lnTo>
                    <a:pt x="32632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143000" y="4964906"/>
            <a:ext cx="2200275" cy="528638"/>
            <a:chOff x="0" y="0"/>
            <a:chExt cx="2933700" cy="70485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33700" cy="704850"/>
            </a:xfrm>
            <a:custGeom>
              <a:avLst/>
              <a:gdLst/>
              <a:ahLst/>
              <a:cxnLst/>
              <a:rect r="r" b="b" t="t" l="l"/>
              <a:pathLst>
                <a:path h="70485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0" b="-3109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29337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Data privacy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3448288" y="4898469"/>
            <a:ext cx="3519011" cy="661511"/>
            <a:chOff x="0" y="0"/>
            <a:chExt cx="4692015" cy="88201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692015" cy="882015"/>
            </a:xfrm>
            <a:custGeom>
              <a:avLst/>
              <a:gdLst/>
              <a:ahLst/>
              <a:cxnLst/>
              <a:rect r="r" b="b" t="t" l="l"/>
              <a:pathLst>
                <a:path h="882015" w="4692015">
                  <a:moveTo>
                    <a:pt x="0" y="0"/>
                  </a:moveTo>
                  <a:lnTo>
                    <a:pt x="4692015" y="0"/>
                  </a:lnTo>
                  <a:lnTo>
                    <a:pt x="469201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6948726" y="4898469"/>
            <a:ext cx="1733074" cy="661511"/>
            <a:chOff x="0" y="0"/>
            <a:chExt cx="2310765" cy="88201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10765" cy="882015"/>
            </a:xfrm>
            <a:custGeom>
              <a:avLst/>
              <a:gdLst/>
              <a:ahLst/>
              <a:cxnLst/>
              <a:rect r="r" b="b" t="t" l="l"/>
              <a:pathLst>
                <a:path h="88201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7072312" y="4964906"/>
            <a:ext cx="1485900" cy="528638"/>
            <a:chOff x="0" y="0"/>
            <a:chExt cx="1981200" cy="70485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5×3 = 15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663226" y="4898469"/>
            <a:ext cx="4304824" cy="661511"/>
            <a:chOff x="0" y="0"/>
            <a:chExt cx="5739765" cy="88201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739765" cy="882015"/>
            </a:xfrm>
            <a:custGeom>
              <a:avLst/>
              <a:gdLst/>
              <a:ahLst/>
              <a:cxnLst/>
              <a:rect r="r" b="b" t="t" l="l"/>
              <a:pathLst>
                <a:path h="882015" w="5739765">
                  <a:moveTo>
                    <a:pt x="0" y="0"/>
                  </a:moveTo>
                  <a:lnTo>
                    <a:pt x="5739765" y="0"/>
                  </a:lnTo>
                  <a:lnTo>
                    <a:pt x="5739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8786812" y="4964906"/>
            <a:ext cx="4057650" cy="1000363"/>
            <a:chOff x="0" y="0"/>
            <a:chExt cx="5410200" cy="133381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410200" cy="1333818"/>
            </a:xfrm>
            <a:custGeom>
              <a:avLst/>
              <a:gdLst/>
              <a:ahLst/>
              <a:cxnLst/>
              <a:rect r="r" b="b" t="t" l="l"/>
              <a:pathLst>
                <a:path h="1333818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1333818"/>
                  </a:lnTo>
                  <a:lnTo>
                    <a:pt x="0" y="13338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612" r="0" b="-545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5410200" cy="133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</a:t>
              </a: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n-house deployment; controlled data access.</a:t>
              </a:r>
            </a:p>
            <a:p>
              <a:pPr algn="l">
                <a:lnSpc>
                  <a:spcPts val="1755"/>
                </a:lnSpc>
              </a:pPr>
            </a:p>
            <a:p>
              <a:pPr algn="l">
                <a:lnSpc>
                  <a:spcPts val="1755"/>
                </a:lnSpc>
              </a:pP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19413" y="5541407"/>
            <a:ext cx="2447449" cy="661511"/>
            <a:chOff x="0" y="0"/>
            <a:chExt cx="3263265" cy="88201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263265" cy="882015"/>
            </a:xfrm>
            <a:custGeom>
              <a:avLst/>
              <a:gdLst/>
              <a:ahLst/>
              <a:cxnLst/>
              <a:rect r="r" b="b" t="t" l="l"/>
              <a:pathLst>
                <a:path h="882015" w="3263265">
                  <a:moveTo>
                    <a:pt x="0" y="0"/>
                  </a:moveTo>
                  <a:lnTo>
                    <a:pt x="3263265" y="0"/>
                  </a:lnTo>
                  <a:lnTo>
                    <a:pt x="32632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43000" y="5607844"/>
            <a:ext cx="2200275" cy="528638"/>
            <a:chOff x="0" y="0"/>
            <a:chExt cx="2933700" cy="70485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933700" cy="704850"/>
            </a:xfrm>
            <a:custGeom>
              <a:avLst/>
              <a:gdLst/>
              <a:ahLst/>
              <a:cxnLst/>
              <a:rect r="r" b="b" t="t" l="l"/>
              <a:pathLst>
                <a:path h="70485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0" b="-3109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29337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User autonomy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448288" y="5541407"/>
            <a:ext cx="3519011" cy="661511"/>
            <a:chOff x="0" y="0"/>
            <a:chExt cx="4692015" cy="882015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692015" cy="882015"/>
            </a:xfrm>
            <a:custGeom>
              <a:avLst/>
              <a:gdLst/>
              <a:ahLst/>
              <a:cxnLst/>
              <a:rect r="r" b="b" t="t" l="l"/>
              <a:pathLst>
                <a:path h="882015" w="4692015">
                  <a:moveTo>
                    <a:pt x="0" y="0"/>
                  </a:moveTo>
                  <a:lnTo>
                    <a:pt x="4692015" y="0"/>
                  </a:lnTo>
                  <a:lnTo>
                    <a:pt x="469201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3571875" y="5607844"/>
            <a:ext cx="3271838" cy="528638"/>
            <a:chOff x="0" y="0"/>
            <a:chExt cx="4362450" cy="70485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362450" cy="704850"/>
            </a:xfrm>
            <a:custGeom>
              <a:avLst/>
              <a:gdLst/>
              <a:ahLst/>
              <a:cxnLst/>
              <a:rect r="r" b="b" t="t" l="l"/>
              <a:pathLst>
                <a:path h="7048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96" r="0" b="-7059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43624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AI acts for the user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948726" y="5541407"/>
            <a:ext cx="1733074" cy="661511"/>
            <a:chOff x="0" y="0"/>
            <a:chExt cx="2310765" cy="88201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310765" cy="882015"/>
            </a:xfrm>
            <a:custGeom>
              <a:avLst/>
              <a:gdLst/>
              <a:ahLst/>
              <a:cxnLst/>
              <a:rect r="r" b="b" t="t" l="l"/>
              <a:pathLst>
                <a:path h="88201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7072312" y="5607844"/>
            <a:ext cx="1485900" cy="528638"/>
            <a:chOff x="0" y="0"/>
            <a:chExt cx="1981200" cy="70485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49A3E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4×3 = 12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8663226" y="5541407"/>
            <a:ext cx="4304824" cy="661511"/>
            <a:chOff x="0" y="0"/>
            <a:chExt cx="5739765" cy="88201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739765" cy="882015"/>
            </a:xfrm>
            <a:custGeom>
              <a:avLst/>
              <a:gdLst/>
              <a:ahLst/>
              <a:cxnLst/>
              <a:rect r="r" b="b" t="t" l="l"/>
              <a:pathLst>
                <a:path h="882015" w="5739765">
                  <a:moveTo>
                    <a:pt x="0" y="0"/>
                  </a:moveTo>
                  <a:lnTo>
                    <a:pt x="5739765" y="0"/>
                  </a:lnTo>
                  <a:lnTo>
                    <a:pt x="5739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FFFFF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8786812" y="5607844"/>
            <a:ext cx="4057650" cy="528638"/>
            <a:chOff x="0" y="0"/>
            <a:chExt cx="5410200" cy="70485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410200" cy="704850"/>
            </a:xfrm>
            <a:custGeom>
              <a:avLst/>
              <a:gdLst/>
              <a:ahLst/>
              <a:cxnLst/>
              <a:rect r="r" b="b" t="t" l="l"/>
              <a:pathLst>
                <a:path h="70485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60" r="0" b="-9956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5410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Guidance first, user control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19413" y="6184344"/>
            <a:ext cx="2447449" cy="661511"/>
            <a:chOff x="0" y="0"/>
            <a:chExt cx="3263265" cy="88201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263265" cy="882015"/>
            </a:xfrm>
            <a:custGeom>
              <a:avLst/>
              <a:gdLst/>
              <a:ahLst/>
              <a:cxnLst/>
              <a:rect r="r" b="b" t="t" l="l"/>
              <a:pathLst>
                <a:path h="882015" w="3263265">
                  <a:moveTo>
                    <a:pt x="0" y="0"/>
                  </a:moveTo>
                  <a:lnTo>
                    <a:pt x="3263265" y="0"/>
                  </a:lnTo>
                  <a:lnTo>
                    <a:pt x="32632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143000" y="6250781"/>
            <a:ext cx="2200275" cy="528638"/>
            <a:chOff x="0" y="0"/>
            <a:chExt cx="2933700" cy="70485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933700" cy="704850"/>
            </a:xfrm>
            <a:custGeom>
              <a:avLst/>
              <a:gdLst/>
              <a:ahLst/>
              <a:cxnLst/>
              <a:rect r="r" b="b" t="t" l="l"/>
              <a:pathLst>
                <a:path h="70485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0" b="-3109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29337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Interface change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3448288" y="6184344"/>
            <a:ext cx="3519011" cy="661511"/>
            <a:chOff x="0" y="0"/>
            <a:chExt cx="4692015" cy="88201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692015" cy="882015"/>
            </a:xfrm>
            <a:custGeom>
              <a:avLst/>
              <a:gdLst/>
              <a:ahLst/>
              <a:cxnLst/>
              <a:rect r="r" b="b" t="t" l="l"/>
              <a:pathLst>
                <a:path h="882015" w="4692015">
                  <a:moveTo>
                    <a:pt x="0" y="0"/>
                  </a:moveTo>
                  <a:lnTo>
                    <a:pt x="4692015" y="0"/>
                  </a:lnTo>
                  <a:lnTo>
                    <a:pt x="469201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3571875" y="6250781"/>
            <a:ext cx="3271838" cy="528638"/>
            <a:chOff x="0" y="0"/>
            <a:chExt cx="4362450" cy="70485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362450" cy="704850"/>
            </a:xfrm>
            <a:custGeom>
              <a:avLst/>
              <a:gdLst/>
              <a:ahLst/>
              <a:cxnLst/>
              <a:rect r="r" b="b" t="t" l="l"/>
              <a:pathLst>
                <a:path h="7048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96" r="0" b="-7059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43624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Guidance becomes outdated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6948726" y="6184344"/>
            <a:ext cx="1733074" cy="661511"/>
            <a:chOff x="0" y="0"/>
            <a:chExt cx="2310765" cy="882015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310765" cy="882015"/>
            </a:xfrm>
            <a:custGeom>
              <a:avLst/>
              <a:gdLst/>
              <a:ahLst/>
              <a:cxnLst/>
              <a:rect r="r" b="b" t="t" l="l"/>
              <a:pathLst>
                <a:path h="88201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7072312" y="6250781"/>
            <a:ext cx="1485900" cy="528638"/>
            <a:chOff x="0" y="0"/>
            <a:chExt cx="1981200" cy="70485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49A3E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4×3 = 12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8663226" y="6184344"/>
            <a:ext cx="4304824" cy="661511"/>
            <a:chOff x="0" y="0"/>
            <a:chExt cx="5739765" cy="88201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739765" cy="882015"/>
            </a:xfrm>
            <a:custGeom>
              <a:avLst/>
              <a:gdLst/>
              <a:ahLst/>
              <a:cxnLst/>
              <a:rect r="r" b="b" t="t" l="l"/>
              <a:pathLst>
                <a:path h="882015" w="5739765">
                  <a:moveTo>
                    <a:pt x="0" y="0"/>
                  </a:moveTo>
                  <a:lnTo>
                    <a:pt x="5739765" y="0"/>
                  </a:lnTo>
                  <a:lnTo>
                    <a:pt x="5739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8786812" y="6250781"/>
            <a:ext cx="4057650" cy="528638"/>
            <a:chOff x="0" y="0"/>
            <a:chExt cx="5410200" cy="70485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410200" cy="704850"/>
            </a:xfrm>
            <a:custGeom>
              <a:avLst/>
              <a:gdLst/>
              <a:ahLst/>
              <a:cxnLst/>
              <a:rect r="r" b="b" t="t" l="l"/>
              <a:pathLst>
                <a:path h="70485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60" r="0" b="-9956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5410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Version checks, regression test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548813" y="3131344"/>
            <a:ext cx="3857625" cy="371475"/>
            <a:chOff x="0" y="0"/>
            <a:chExt cx="5143500" cy="4953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143500" cy="495300"/>
            </a:xfrm>
            <a:custGeom>
              <a:avLst/>
              <a:gdLst/>
              <a:ahLst/>
              <a:cxnLst/>
              <a:rect r="r" b="b" t="t" l="l"/>
              <a:pathLst>
                <a:path h="4953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9525"/>
              <a:ext cx="51435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45"/>
                </a:lnSpc>
              </a:pPr>
              <a:r>
                <a:rPr lang="en-US" sz="15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IMPACT × LIKELIHOOD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111026" y="3664982"/>
            <a:ext cx="575786" cy="575786"/>
            <a:chOff x="0" y="0"/>
            <a:chExt cx="767715" cy="767715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4" id="154"/>
          <p:cNvGrpSpPr/>
          <p:nvPr/>
        </p:nvGrpSpPr>
        <p:grpSpPr>
          <a:xfrm rot="0">
            <a:off x="14120313" y="3674269"/>
            <a:ext cx="557212" cy="557212"/>
            <a:chOff x="0" y="0"/>
            <a:chExt cx="742950" cy="74295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5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4668239" y="3664982"/>
            <a:ext cx="575786" cy="575786"/>
            <a:chOff x="0" y="0"/>
            <a:chExt cx="767715" cy="767715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49A3E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9" id="159"/>
          <p:cNvGrpSpPr/>
          <p:nvPr/>
        </p:nvGrpSpPr>
        <p:grpSpPr>
          <a:xfrm rot="0">
            <a:off x="14677526" y="3674269"/>
            <a:ext cx="557212" cy="557212"/>
            <a:chOff x="0" y="0"/>
            <a:chExt cx="742950" cy="74295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10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5225451" y="3664982"/>
            <a:ext cx="575786" cy="575786"/>
            <a:chOff x="0" y="0"/>
            <a:chExt cx="767715" cy="767715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15234738" y="3674269"/>
            <a:ext cx="557212" cy="557212"/>
            <a:chOff x="0" y="0"/>
            <a:chExt cx="742950" cy="74295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15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782664" y="3664982"/>
            <a:ext cx="575786" cy="575786"/>
            <a:chOff x="0" y="0"/>
            <a:chExt cx="767715" cy="767715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15791951" y="3674269"/>
            <a:ext cx="557212" cy="557212"/>
            <a:chOff x="0" y="0"/>
            <a:chExt cx="742950" cy="74295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20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6339876" y="3664982"/>
            <a:ext cx="575786" cy="575786"/>
            <a:chOff x="0" y="0"/>
            <a:chExt cx="767715" cy="767715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4" id="174"/>
          <p:cNvGrpSpPr/>
          <p:nvPr/>
        </p:nvGrpSpPr>
        <p:grpSpPr>
          <a:xfrm rot="0">
            <a:off x="16349163" y="3674269"/>
            <a:ext cx="557212" cy="557212"/>
            <a:chOff x="0" y="0"/>
            <a:chExt cx="742950" cy="74295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25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4111026" y="4222194"/>
            <a:ext cx="575786" cy="575786"/>
            <a:chOff x="0" y="0"/>
            <a:chExt cx="767715" cy="767715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9" id="179"/>
          <p:cNvGrpSpPr/>
          <p:nvPr/>
        </p:nvGrpSpPr>
        <p:grpSpPr>
          <a:xfrm rot="0">
            <a:off x="14120313" y="4231481"/>
            <a:ext cx="557212" cy="557212"/>
            <a:chOff x="0" y="0"/>
            <a:chExt cx="742950" cy="74295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4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668239" y="4222194"/>
            <a:ext cx="575786" cy="575786"/>
            <a:chOff x="0" y="0"/>
            <a:chExt cx="767715" cy="767715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49A3E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4" id="184"/>
          <p:cNvGrpSpPr/>
          <p:nvPr/>
        </p:nvGrpSpPr>
        <p:grpSpPr>
          <a:xfrm rot="0">
            <a:off x="14677526" y="4231481"/>
            <a:ext cx="557212" cy="557212"/>
            <a:chOff x="0" y="0"/>
            <a:chExt cx="742950" cy="74295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8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5225451" y="4222194"/>
            <a:ext cx="575786" cy="575786"/>
            <a:chOff x="0" y="0"/>
            <a:chExt cx="767715" cy="767715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49A3E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9" id="189"/>
          <p:cNvGrpSpPr/>
          <p:nvPr/>
        </p:nvGrpSpPr>
        <p:grpSpPr>
          <a:xfrm rot="0">
            <a:off x="15234738" y="4231481"/>
            <a:ext cx="557212" cy="557212"/>
            <a:chOff x="0" y="0"/>
            <a:chExt cx="742950" cy="74295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12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15782664" y="4222194"/>
            <a:ext cx="575786" cy="575786"/>
            <a:chOff x="0" y="0"/>
            <a:chExt cx="767715" cy="767715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4" id="194"/>
          <p:cNvGrpSpPr/>
          <p:nvPr/>
        </p:nvGrpSpPr>
        <p:grpSpPr>
          <a:xfrm rot="0">
            <a:off x="15791951" y="4231481"/>
            <a:ext cx="557212" cy="557212"/>
            <a:chOff x="0" y="0"/>
            <a:chExt cx="742950" cy="74295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16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6339876" y="4222194"/>
            <a:ext cx="575786" cy="575786"/>
            <a:chOff x="0" y="0"/>
            <a:chExt cx="767715" cy="767715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9" id="199"/>
          <p:cNvGrpSpPr/>
          <p:nvPr/>
        </p:nvGrpSpPr>
        <p:grpSpPr>
          <a:xfrm rot="0">
            <a:off x="16349163" y="4231481"/>
            <a:ext cx="557212" cy="557212"/>
            <a:chOff x="0" y="0"/>
            <a:chExt cx="742950" cy="74295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20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4111026" y="4779407"/>
            <a:ext cx="575786" cy="575786"/>
            <a:chOff x="0" y="0"/>
            <a:chExt cx="767715" cy="767715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44B96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4" id="204"/>
          <p:cNvGrpSpPr/>
          <p:nvPr/>
        </p:nvGrpSpPr>
        <p:grpSpPr>
          <a:xfrm rot="0">
            <a:off x="14120313" y="4788694"/>
            <a:ext cx="557212" cy="557212"/>
            <a:chOff x="0" y="0"/>
            <a:chExt cx="742950" cy="74295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3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14668239" y="4779407"/>
            <a:ext cx="575786" cy="575786"/>
            <a:chOff x="0" y="0"/>
            <a:chExt cx="767715" cy="767715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9" id="209"/>
          <p:cNvGrpSpPr/>
          <p:nvPr/>
        </p:nvGrpSpPr>
        <p:grpSpPr>
          <a:xfrm rot="0">
            <a:off x="14677526" y="4788694"/>
            <a:ext cx="557212" cy="557212"/>
            <a:chOff x="0" y="0"/>
            <a:chExt cx="742950" cy="74295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6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5225451" y="4779407"/>
            <a:ext cx="575786" cy="575786"/>
            <a:chOff x="0" y="0"/>
            <a:chExt cx="767715" cy="767715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49A3E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4" id="214"/>
          <p:cNvGrpSpPr/>
          <p:nvPr/>
        </p:nvGrpSpPr>
        <p:grpSpPr>
          <a:xfrm rot="0">
            <a:off x="15234738" y="4788694"/>
            <a:ext cx="557212" cy="557212"/>
            <a:chOff x="0" y="0"/>
            <a:chExt cx="742950" cy="742950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9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15782664" y="4779407"/>
            <a:ext cx="575786" cy="575786"/>
            <a:chOff x="0" y="0"/>
            <a:chExt cx="767715" cy="767715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49A3E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9" id="219"/>
          <p:cNvGrpSpPr/>
          <p:nvPr/>
        </p:nvGrpSpPr>
        <p:grpSpPr>
          <a:xfrm rot="0">
            <a:off x="15791951" y="4788694"/>
            <a:ext cx="557212" cy="557212"/>
            <a:chOff x="0" y="0"/>
            <a:chExt cx="742950" cy="74295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1" id="22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12</a:t>
              </a:r>
            </a:p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16339876" y="4779407"/>
            <a:ext cx="575786" cy="575786"/>
            <a:chOff x="0" y="0"/>
            <a:chExt cx="767715" cy="767715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ED1B2F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4" id="224"/>
          <p:cNvGrpSpPr/>
          <p:nvPr/>
        </p:nvGrpSpPr>
        <p:grpSpPr>
          <a:xfrm rot="0">
            <a:off x="16349163" y="4788694"/>
            <a:ext cx="557212" cy="557212"/>
            <a:chOff x="0" y="0"/>
            <a:chExt cx="742950" cy="74295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15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4111026" y="5336619"/>
            <a:ext cx="575786" cy="575786"/>
            <a:chOff x="0" y="0"/>
            <a:chExt cx="767715" cy="767715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44B96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9" id="229"/>
          <p:cNvGrpSpPr/>
          <p:nvPr/>
        </p:nvGrpSpPr>
        <p:grpSpPr>
          <a:xfrm rot="0">
            <a:off x="14120313" y="5345906"/>
            <a:ext cx="557212" cy="557212"/>
            <a:chOff x="0" y="0"/>
            <a:chExt cx="742950" cy="742950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2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14668239" y="5336619"/>
            <a:ext cx="575786" cy="575786"/>
            <a:chOff x="0" y="0"/>
            <a:chExt cx="767715" cy="767715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4" id="234"/>
          <p:cNvGrpSpPr/>
          <p:nvPr/>
        </p:nvGrpSpPr>
        <p:grpSpPr>
          <a:xfrm rot="0">
            <a:off x="14677526" y="5345906"/>
            <a:ext cx="557212" cy="557212"/>
            <a:chOff x="0" y="0"/>
            <a:chExt cx="742950" cy="742950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4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15225451" y="5336619"/>
            <a:ext cx="575786" cy="575786"/>
            <a:chOff x="0" y="0"/>
            <a:chExt cx="767715" cy="767715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9" id="239"/>
          <p:cNvGrpSpPr/>
          <p:nvPr/>
        </p:nvGrpSpPr>
        <p:grpSpPr>
          <a:xfrm rot="0">
            <a:off x="15234738" y="5345906"/>
            <a:ext cx="557212" cy="557212"/>
            <a:chOff x="0" y="0"/>
            <a:chExt cx="742950" cy="74295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6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15782664" y="5336619"/>
            <a:ext cx="575786" cy="575786"/>
            <a:chOff x="0" y="0"/>
            <a:chExt cx="767715" cy="767715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49A3E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44" id="244"/>
          <p:cNvGrpSpPr/>
          <p:nvPr/>
        </p:nvGrpSpPr>
        <p:grpSpPr>
          <a:xfrm rot="0">
            <a:off x="15791951" y="5345906"/>
            <a:ext cx="557212" cy="557212"/>
            <a:chOff x="0" y="0"/>
            <a:chExt cx="742950" cy="742950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6" id="24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8</a:t>
              </a:r>
            </a:p>
          </p:txBody>
        </p:sp>
      </p:grpSp>
      <p:grpSp>
        <p:nvGrpSpPr>
          <p:cNvPr name="Group 247" id="247"/>
          <p:cNvGrpSpPr/>
          <p:nvPr/>
        </p:nvGrpSpPr>
        <p:grpSpPr>
          <a:xfrm rot="0">
            <a:off x="16339876" y="5336619"/>
            <a:ext cx="575786" cy="575786"/>
            <a:chOff x="0" y="0"/>
            <a:chExt cx="767715" cy="767715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49A3E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49" id="249"/>
          <p:cNvGrpSpPr/>
          <p:nvPr/>
        </p:nvGrpSpPr>
        <p:grpSpPr>
          <a:xfrm rot="0">
            <a:off x="16349163" y="5345906"/>
            <a:ext cx="557212" cy="557212"/>
            <a:chOff x="0" y="0"/>
            <a:chExt cx="742950" cy="742950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10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14111026" y="5893832"/>
            <a:ext cx="575786" cy="575786"/>
            <a:chOff x="0" y="0"/>
            <a:chExt cx="767715" cy="767715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44B96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4" id="254"/>
          <p:cNvGrpSpPr/>
          <p:nvPr/>
        </p:nvGrpSpPr>
        <p:grpSpPr>
          <a:xfrm rot="0">
            <a:off x="14120313" y="5903119"/>
            <a:ext cx="557212" cy="557212"/>
            <a:chOff x="0" y="0"/>
            <a:chExt cx="742950" cy="742950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1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14668239" y="5893832"/>
            <a:ext cx="575786" cy="575786"/>
            <a:chOff x="0" y="0"/>
            <a:chExt cx="767715" cy="767715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44B96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677526" y="5903119"/>
            <a:ext cx="557212" cy="557212"/>
            <a:chOff x="0" y="0"/>
            <a:chExt cx="742950" cy="742950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2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5225451" y="5893832"/>
            <a:ext cx="575786" cy="575786"/>
            <a:chOff x="0" y="0"/>
            <a:chExt cx="767715" cy="767715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44B96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4" id="264"/>
          <p:cNvGrpSpPr/>
          <p:nvPr/>
        </p:nvGrpSpPr>
        <p:grpSpPr>
          <a:xfrm rot="0">
            <a:off x="15234738" y="5903119"/>
            <a:ext cx="557212" cy="557212"/>
            <a:chOff x="0" y="0"/>
            <a:chExt cx="742950" cy="742950"/>
          </a:xfrm>
        </p:grpSpPr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6" id="26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3</a:t>
              </a:r>
            </a:p>
          </p:txBody>
        </p:sp>
      </p:grpSp>
      <p:grpSp>
        <p:nvGrpSpPr>
          <p:cNvPr name="Group 267" id="267"/>
          <p:cNvGrpSpPr/>
          <p:nvPr/>
        </p:nvGrpSpPr>
        <p:grpSpPr>
          <a:xfrm rot="0">
            <a:off x="15782664" y="5893832"/>
            <a:ext cx="575786" cy="575786"/>
            <a:chOff x="0" y="0"/>
            <a:chExt cx="767715" cy="767715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9" id="269"/>
          <p:cNvGrpSpPr/>
          <p:nvPr/>
        </p:nvGrpSpPr>
        <p:grpSpPr>
          <a:xfrm rot="0">
            <a:off x="15791951" y="5903119"/>
            <a:ext cx="557212" cy="557212"/>
            <a:chOff x="0" y="0"/>
            <a:chExt cx="742950" cy="742950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4</a:t>
              </a:r>
            </a:p>
          </p:txBody>
        </p:sp>
      </p:grpSp>
      <p:grpSp>
        <p:nvGrpSpPr>
          <p:cNvPr name="Group 272" id="272"/>
          <p:cNvGrpSpPr/>
          <p:nvPr/>
        </p:nvGrpSpPr>
        <p:grpSpPr>
          <a:xfrm rot="0">
            <a:off x="16339876" y="5893832"/>
            <a:ext cx="575786" cy="575786"/>
            <a:chOff x="0" y="0"/>
            <a:chExt cx="767715" cy="767715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767715" cy="767715"/>
            </a:xfrm>
            <a:custGeom>
              <a:avLst/>
              <a:gdLst/>
              <a:ahLst/>
              <a:cxnLst/>
              <a:rect r="r" b="b" t="t" l="l"/>
              <a:pathLst>
                <a:path h="767715" w="767715">
                  <a:moveTo>
                    <a:pt x="0" y="0"/>
                  </a:moveTo>
                  <a:lnTo>
                    <a:pt x="767715" y="0"/>
                  </a:lnTo>
                  <a:lnTo>
                    <a:pt x="767715" y="767715"/>
                  </a:lnTo>
                  <a:lnTo>
                    <a:pt x="0" y="7677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74" id="274"/>
          <p:cNvGrpSpPr/>
          <p:nvPr/>
        </p:nvGrpSpPr>
        <p:grpSpPr>
          <a:xfrm rot="0">
            <a:off x="16349163" y="5903119"/>
            <a:ext cx="557212" cy="557212"/>
            <a:chOff x="0" y="0"/>
            <a:chExt cx="742950" cy="742950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6" id="276"/>
            <p:cNvSpPr txBox="true"/>
            <p:nvPr/>
          </p:nvSpPr>
          <p:spPr>
            <a:xfrm>
              <a:off x="0" y="9525"/>
              <a:ext cx="742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237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5</a:t>
              </a:r>
            </a:p>
          </p:txBody>
        </p:sp>
      </p:grpSp>
      <p:grpSp>
        <p:nvGrpSpPr>
          <p:cNvPr name="Group 277" id="277"/>
          <p:cNvGrpSpPr/>
          <p:nvPr/>
        </p:nvGrpSpPr>
        <p:grpSpPr>
          <a:xfrm rot="0">
            <a:off x="13977438" y="6588919"/>
            <a:ext cx="3143250" cy="419100"/>
            <a:chOff x="0" y="0"/>
            <a:chExt cx="4191000" cy="558800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4191000" cy="558800"/>
            </a:xfrm>
            <a:custGeom>
              <a:avLst/>
              <a:gdLst/>
              <a:ahLst/>
              <a:cxnLst/>
              <a:rect r="r" b="b" t="t" l="l"/>
              <a:pathLst>
                <a:path h="5588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37" r="0" b="-83637"/>
              </a:stretch>
            </a:blipFill>
          </p:spPr>
        </p:sp>
        <p:sp>
          <p:nvSpPr>
            <p:cNvPr name="TextBox 279" id="279"/>
            <p:cNvSpPr txBox="true"/>
            <p:nvPr/>
          </p:nvSpPr>
          <p:spPr>
            <a:xfrm>
              <a:off x="0" y="9525"/>
              <a:ext cx="4191000" cy="54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5"/>
                </a:lnSpc>
              </a:pPr>
              <a:r>
                <a:rPr lang="en-US" sz="1162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LIKELIHOOD </a:t>
              </a:r>
            </a:p>
          </p:txBody>
        </p:sp>
      </p:grpSp>
      <p:grpSp>
        <p:nvGrpSpPr>
          <p:cNvPr name="Group 280" id="280"/>
          <p:cNvGrpSpPr/>
          <p:nvPr/>
        </p:nvGrpSpPr>
        <p:grpSpPr>
          <a:xfrm rot="0">
            <a:off x="13168074" y="4493419"/>
            <a:ext cx="809364" cy="1000125"/>
            <a:chOff x="0" y="0"/>
            <a:chExt cx="1079152" cy="1333500"/>
          </a:xfrm>
        </p:grpSpPr>
        <p:sp>
          <p:nvSpPr>
            <p:cNvPr name="Freeform 281" id="281"/>
            <p:cNvSpPr/>
            <p:nvPr/>
          </p:nvSpPr>
          <p:spPr>
            <a:xfrm flipH="false" flipV="false" rot="0">
              <a:off x="0" y="0"/>
              <a:ext cx="1079152" cy="1333500"/>
            </a:xfrm>
            <a:custGeom>
              <a:avLst/>
              <a:gdLst/>
              <a:ahLst/>
              <a:cxnLst/>
              <a:rect r="r" b="b" t="t" l="l"/>
              <a:pathLst>
                <a:path h="1333500" w="1079152">
                  <a:moveTo>
                    <a:pt x="0" y="0"/>
                  </a:moveTo>
                  <a:lnTo>
                    <a:pt x="1079152" y="0"/>
                  </a:lnTo>
                  <a:lnTo>
                    <a:pt x="1079152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8825" t="0" r="-98262" b="0"/>
              </a:stretch>
            </a:blipFill>
          </p:spPr>
        </p:sp>
        <p:sp>
          <p:nvSpPr>
            <p:cNvPr name="TextBox 282" id="282"/>
            <p:cNvSpPr txBox="true"/>
            <p:nvPr/>
          </p:nvSpPr>
          <p:spPr>
            <a:xfrm>
              <a:off x="0" y="0"/>
              <a:ext cx="1079152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000054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IMPACT</a:t>
              </a:r>
            </a:p>
          </p:txBody>
        </p:sp>
      </p:grpSp>
      <p:grpSp>
        <p:nvGrpSpPr>
          <p:cNvPr name="Group 283" id="283"/>
          <p:cNvGrpSpPr/>
          <p:nvPr/>
        </p:nvGrpSpPr>
        <p:grpSpPr>
          <a:xfrm rot="0">
            <a:off x="13334501" y="7246144"/>
            <a:ext cx="4071938" cy="885825"/>
            <a:chOff x="0" y="0"/>
            <a:chExt cx="5429250" cy="1181100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54292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42925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5238750" y="0"/>
                  </a:lnTo>
                  <a:cubicBezTo>
                    <a:pt x="5343906" y="0"/>
                    <a:pt x="5429250" y="85344"/>
                    <a:pt x="5429250" y="190500"/>
                  </a:cubicBezTo>
                  <a:lnTo>
                    <a:pt x="5429250" y="990600"/>
                  </a:lnTo>
                  <a:cubicBezTo>
                    <a:pt x="5429250" y="1095756"/>
                    <a:pt x="5343906" y="1181100"/>
                    <a:pt x="5238750" y="1181100"/>
                  </a:cubicBezTo>
                  <a:lnTo>
                    <a:pt x="190500" y="1181100"/>
                  </a:lnTo>
                  <a:cubicBezTo>
                    <a:pt x="85344" y="1181100"/>
                    <a:pt x="0" y="1095756"/>
                    <a:pt x="0" y="990600"/>
                  </a:cubicBezTo>
                  <a:close/>
                </a:path>
              </a:pathLst>
            </a:custGeom>
            <a:solidFill>
              <a:srgbClr val="FDEBEC"/>
            </a:solid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3548813" y="7360444"/>
            <a:ext cx="3643312" cy="657225"/>
            <a:chOff x="0" y="0"/>
            <a:chExt cx="4857750" cy="876300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4857750" cy="876300"/>
            </a:xfrm>
            <a:custGeom>
              <a:avLst/>
              <a:gdLst/>
              <a:ahLst/>
              <a:cxnLst/>
              <a:rect r="r" b="b" t="t" l="l"/>
              <a:pathLst>
                <a:path h="8763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485775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7"/>
                </a:lnSpc>
              </a:pPr>
              <a:r>
                <a:rPr lang="en-US" sz="1706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Critical score 15–25</a:t>
              </a:r>
            </a:p>
            <a:p>
              <a:pPr algn="ctr">
                <a:lnSpc>
                  <a:spcPts val="2047"/>
                </a:lnSpc>
              </a:pPr>
              <a:r>
                <a:rPr lang="en-US" sz="1706" b="true">
                  <a:solidFill>
                    <a:srgbClr val="ED1B2F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STOP until mitigated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334501" y="8255794"/>
            <a:ext cx="4071938" cy="342900"/>
            <a:chOff x="0" y="0"/>
            <a:chExt cx="5429250" cy="457200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5429250" cy="457200"/>
            </a:xfrm>
            <a:custGeom>
              <a:avLst/>
              <a:gdLst/>
              <a:ahLst/>
              <a:cxnLst/>
              <a:rect r="r" b="b" t="t" l="l"/>
              <a:pathLst>
                <a:path h="457200" w="5429250">
                  <a:moveTo>
                    <a:pt x="0" y="0"/>
                  </a:moveTo>
                  <a:lnTo>
                    <a:pt x="5429250" y="0"/>
                  </a:lnTo>
                  <a:lnTo>
                    <a:pt x="5429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542925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Risk score = Impact × Likelihood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992981" y="6798469"/>
            <a:ext cx="2476262" cy="957024"/>
            <a:chOff x="0" y="0"/>
            <a:chExt cx="3301682" cy="1276032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301683" cy="1276032"/>
            </a:xfrm>
            <a:custGeom>
              <a:avLst/>
              <a:gdLst/>
              <a:ahLst/>
              <a:cxnLst/>
              <a:rect r="r" b="b" t="t" l="l"/>
              <a:pathLst>
                <a:path h="1276032" w="3301683">
                  <a:moveTo>
                    <a:pt x="0" y="0"/>
                  </a:moveTo>
                  <a:lnTo>
                    <a:pt x="3301683" y="0"/>
                  </a:lnTo>
                  <a:lnTo>
                    <a:pt x="3301683" y="1276032"/>
                  </a:lnTo>
                  <a:lnTo>
                    <a:pt x="0" y="1276032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293" id="293"/>
          <p:cNvGrpSpPr/>
          <p:nvPr/>
        </p:nvGrpSpPr>
        <p:grpSpPr>
          <a:xfrm rot="0">
            <a:off x="1116568" y="6864906"/>
            <a:ext cx="1738806" cy="528638"/>
            <a:chOff x="0" y="0"/>
            <a:chExt cx="2318408" cy="704850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0" y="0"/>
              <a:ext cx="2318408" cy="704850"/>
            </a:xfrm>
            <a:custGeom>
              <a:avLst/>
              <a:gdLst/>
              <a:ahLst/>
              <a:cxnLst/>
              <a:rect r="r" b="b" t="t" l="l"/>
              <a:pathLst>
                <a:path h="704850" w="2318408">
                  <a:moveTo>
                    <a:pt x="0" y="0"/>
                  </a:moveTo>
                  <a:lnTo>
                    <a:pt x="2318408" y="0"/>
                  </a:lnTo>
                  <a:lnTo>
                    <a:pt x="2318408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-26539" b="-31099"/>
              </a:stretch>
            </a:blipFill>
          </p:spPr>
        </p:sp>
        <p:sp>
          <p:nvSpPr>
            <p:cNvPr name="TextBox 295" id="295"/>
            <p:cNvSpPr txBox="true"/>
            <p:nvPr/>
          </p:nvSpPr>
          <p:spPr>
            <a:xfrm>
              <a:off x="0" y="0"/>
              <a:ext cx="2318408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Adoption</a:t>
              </a:r>
            </a:p>
          </p:txBody>
        </p:sp>
      </p:grpSp>
      <p:grpSp>
        <p:nvGrpSpPr>
          <p:cNvPr name="Group 296" id="296"/>
          <p:cNvGrpSpPr/>
          <p:nvPr/>
        </p:nvGrpSpPr>
        <p:grpSpPr>
          <a:xfrm rot="0">
            <a:off x="3440430" y="6798469"/>
            <a:ext cx="3500437" cy="890587"/>
            <a:chOff x="0" y="0"/>
            <a:chExt cx="4667250" cy="118745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466725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298" id="298"/>
          <p:cNvGrpSpPr/>
          <p:nvPr/>
        </p:nvGrpSpPr>
        <p:grpSpPr>
          <a:xfrm rot="0">
            <a:off x="3545443" y="6864906"/>
            <a:ext cx="3350419" cy="535848"/>
            <a:chOff x="0" y="0"/>
            <a:chExt cx="4467225" cy="714464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4467225" cy="714464"/>
            </a:xfrm>
            <a:custGeom>
              <a:avLst/>
              <a:gdLst/>
              <a:ahLst/>
              <a:cxnLst/>
              <a:rect r="r" b="b" t="t" l="l"/>
              <a:pathLst>
                <a:path h="714464" w="4467225">
                  <a:moveTo>
                    <a:pt x="0" y="0"/>
                  </a:moveTo>
                  <a:lnTo>
                    <a:pt x="4467225" y="0"/>
                  </a:lnTo>
                  <a:lnTo>
                    <a:pt x="4467225" y="714464"/>
                  </a:lnTo>
                  <a:lnTo>
                    <a:pt x="0" y="714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646" r="2345" b="-68301"/>
              </a:stretch>
            </a:blipFill>
          </p:spPr>
        </p:sp>
        <p:sp>
          <p:nvSpPr>
            <p:cNvPr name="TextBox 300" id="300"/>
            <p:cNvSpPr txBox="true"/>
            <p:nvPr/>
          </p:nvSpPr>
          <p:spPr>
            <a:xfrm>
              <a:off x="0" y="0"/>
              <a:ext cx="4467225" cy="714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An unfamiliar interface slows users down.</a:t>
              </a:r>
            </a:p>
          </p:txBody>
        </p:sp>
      </p:grpSp>
      <p:grpSp>
        <p:nvGrpSpPr>
          <p:cNvPr name="Group 301" id="301"/>
          <p:cNvGrpSpPr/>
          <p:nvPr/>
        </p:nvGrpSpPr>
        <p:grpSpPr>
          <a:xfrm rot="0">
            <a:off x="6922294" y="6798469"/>
            <a:ext cx="1733074" cy="890587"/>
            <a:chOff x="0" y="0"/>
            <a:chExt cx="2310765" cy="118745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0" y="0"/>
              <a:ext cx="2310765" cy="1187450"/>
            </a:xfrm>
            <a:custGeom>
              <a:avLst/>
              <a:gdLst/>
              <a:ahLst/>
              <a:cxnLst/>
              <a:rect r="r" b="b" t="t" l="l"/>
              <a:pathLst>
                <a:path h="1187450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03" id="303"/>
          <p:cNvGrpSpPr/>
          <p:nvPr/>
        </p:nvGrpSpPr>
        <p:grpSpPr>
          <a:xfrm rot="0">
            <a:off x="7045881" y="6864906"/>
            <a:ext cx="1485900" cy="528638"/>
            <a:chOff x="0" y="0"/>
            <a:chExt cx="1981200" cy="704850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305" id="305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49A3E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3 × 3 = 9</a:t>
              </a:r>
            </a:p>
          </p:txBody>
        </p:sp>
      </p:grpSp>
      <p:grpSp>
        <p:nvGrpSpPr>
          <p:cNvPr name="Group 306" id="306"/>
          <p:cNvGrpSpPr/>
          <p:nvPr/>
        </p:nvGrpSpPr>
        <p:grpSpPr>
          <a:xfrm rot="0">
            <a:off x="8636794" y="6798469"/>
            <a:ext cx="4331256" cy="890587"/>
            <a:chOff x="0" y="0"/>
            <a:chExt cx="5775008" cy="1187450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5775008" cy="1187450"/>
            </a:xfrm>
            <a:custGeom>
              <a:avLst/>
              <a:gdLst/>
              <a:ahLst/>
              <a:cxnLst/>
              <a:rect r="r" b="b" t="t" l="l"/>
              <a:pathLst>
                <a:path h="1187450" w="5775008">
                  <a:moveTo>
                    <a:pt x="0" y="0"/>
                  </a:moveTo>
                  <a:lnTo>
                    <a:pt x="5775008" y="0"/>
                  </a:lnTo>
                  <a:lnTo>
                    <a:pt x="5775008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08" id="308"/>
          <p:cNvGrpSpPr/>
          <p:nvPr/>
        </p:nvGrpSpPr>
        <p:grpSpPr>
          <a:xfrm rot="0">
            <a:off x="8696243" y="6999532"/>
            <a:ext cx="4238790" cy="535848"/>
            <a:chOff x="0" y="0"/>
            <a:chExt cx="5651720" cy="714464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5651720" cy="714464"/>
            </a:xfrm>
            <a:custGeom>
              <a:avLst/>
              <a:gdLst/>
              <a:ahLst/>
              <a:cxnLst/>
              <a:rect r="r" b="b" t="t" l="l"/>
              <a:pathLst>
                <a:path h="714464" w="5651720">
                  <a:moveTo>
                    <a:pt x="0" y="0"/>
                  </a:moveTo>
                  <a:lnTo>
                    <a:pt x="5651720" y="0"/>
                  </a:lnTo>
                  <a:lnTo>
                    <a:pt x="5651720" y="714464"/>
                  </a:lnTo>
                  <a:lnTo>
                    <a:pt x="0" y="714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221" r="4273" b="-96875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5651720" cy="714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Preserve familiar keyboard shortcuts &amp; screen-reader interaction; no mouse required.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966549" y="7689056"/>
            <a:ext cx="2464356" cy="661511"/>
            <a:chOff x="0" y="0"/>
            <a:chExt cx="3285808" cy="882015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285808" cy="882015"/>
            </a:xfrm>
            <a:custGeom>
              <a:avLst/>
              <a:gdLst/>
              <a:ahLst/>
              <a:cxnLst/>
              <a:rect r="r" b="b" t="t" l="l"/>
              <a:pathLst>
                <a:path h="882015" w="3285808">
                  <a:moveTo>
                    <a:pt x="0" y="0"/>
                  </a:moveTo>
                  <a:lnTo>
                    <a:pt x="3285808" y="0"/>
                  </a:lnTo>
                  <a:lnTo>
                    <a:pt x="3285808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13" id="313"/>
          <p:cNvGrpSpPr/>
          <p:nvPr/>
        </p:nvGrpSpPr>
        <p:grpSpPr>
          <a:xfrm rot="0">
            <a:off x="1090136" y="7755493"/>
            <a:ext cx="1904762" cy="528638"/>
            <a:chOff x="0" y="0"/>
            <a:chExt cx="2539683" cy="704850"/>
          </a:xfrm>
        </p:grpSpPr>
        <p:sp>
          <p:nvSpPr>
            <p:cNvPr name="Freeform 314" id="314"/>
            <p:cNvSpPr/>
            <p:nvPr/>
          </p:nvSpPr>
          <p:spPr>
            <a:xfrm flipH="false" flipV="false" rot="0">
              <a:off x="0" y="0"/>
              <a:ext cx="2539683" cy="704850"/>
            </a:xfrm>
            <a:custGeom>
              <a:avLst/>
              <a:gdLst/>
              <a:ahLst/>
              <a:cxnLst/>
              <a:rect r="r" b="b" t="t" l="l"/>
              <a:pathLst>
                <a:path h="704850" w="2539683">
                  <a:moveTo>
                    <a:pt x="0" y="0"/>
                  </a:moveTo>
                  <a:lnTo>
                    <a:pt x="2539683" y="0"/>
                  </a:lnTo>
                  <a:lnTo>
                    <a:pt x="2539683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99" r="-15514" b="-31099"/>
              </a:stretch>
            </a:blipFill>
          </p:spPr>
        </p:sp>
        <p:sp>
          <p:nvSpPr>
            <p:cNvPr name="TextBox 315" id="315"/>
            <p:cNvSpPr txBox="true"/>
            <p:nvPr/>
          </p:nvSpPr>
          <p:spPr>
            <a:xfrm>
              <a:off x="0" y="0"/>
              <a:ext cx="2539683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Competition</a:t>
              </a:r>
            </a:p>
          </p:txBody>
        </p:sp>
      </p:grpSp>
      <p:grpSp>
        <p:nvGrpSpPr>
          <p:cNvPr name="Group 316" id="316"/>
          <p:cNvGrpSpPr/>
          <p:nvPr/>
        </p:nvGrpSpPr>
        <p:grpSpPr>
          <a:xfrm rot="0">
            <a:off x="3413998" y="7689056"/>
            <a:ext cx="3500437" cy="661511"/>
            <a:chOff x="0" y="0"/>
            <a:chExt cx="4667250" cy="882015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4667250" cy="882015"/>
            </a:xfrm>
            <a:custGeom>
              <a:avLst/>
              <a:gdLst/>
              <a:ahLst/>
              <a:cxnLst/>
              <a:rect r="r" b="b" t="t" l="l"/>
              <a:pathLst>
                <a:path h="882015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6D35B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18" id="318"/>
          <p:cNvGrpSpPr/>
          <p:nvPr/>
        </p:nvGrpSpPr>
        <p:grpSpPr>
          <a:xfrm rot="0">
            <a:off x="3519011" y="7755493"/>
            <a:ext cx="3271838" cy="528638"/>
            <a:chOff x="0" y="0"/>
            <a:chExt cx="4362450" cy="704850"/>
          </a:xfrm>
        </p:grpSpPr>
        <p:sp>
          <p:nvSpPr>
            <p:cNvPr name="Freeform 319" id="319"/>
            <p:cNvSpPr/>
            <p:nvPr/>
          </p:nvSpPr>
          <p:spPr>
            <a:xfrm flipH="false" flipV="false" rot="0">
              <a:off x="0" y="0"/>
              <a:ext cx="4362450" cy="704850"/>
            </a:xfrm>
            <a:custGeom>
              <a:avLst/>
              <a:gdLst/>
              <a:ahLst/>
              <a:cxnLst/>
              <a:rect r="r" b="b" t="t" l="l"/>
              <a:pathLst>
                <a:path h="7048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96" r="0" b="-70596"/>
              </a:stretch>
            </a:blipFill>
          </p:spPr>
        </p:sp>
        <p:sp>
          <p:nvSpPr>
            <p:cNvPr name="TextBox 320" id="320"/>
            <p:cNvSpPr txBox="true"/>
            <p:nvPr/>
          </p:nvSpPr>
          <p:spPr>
            <a:xfrm>
              <a:off x="0" y="0"/>
              <a:ext cx="43624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</a:t>
              </a: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imilar tools may already exist</a:t>
              </a:r>
            </a:p>
          </p:txBody>
        </p:sp>
      </p:grpSp>
      <p:grpSp>
        <p:nvGrpSpPr>
          <p:cNvPr name="Group 321" id="321"/>
          <p:cNvGrpSpPr/>
          <p:nvPr/>
        </p:nvGrpSpPr>
        <p:grpSpPr>
          <a:xfrm rot="0">
            <a:off x="6895862" y="7689056"/>
            <a:ext cx="1733074" cy="661511"/>
            <a:chOff x="0" y="0"/>
            <a:chExt cx="2310765" cy="882015"/>
          </a:xfrm>
        </p:grpSpPr>
        <p:sp>
          <p:nvSpPr>
            <p:cNvPr name="Freeform 322" id="322"/>
            <p:cNvSpPr/>
            <p:nvPr/>
          </p:nvSpPr>
          <p:spPr>
            <a:xfrm flipH="false" flipV="false" rot="0">
              <a:off x="0" y="0"/>
              <a:ext cx="2310765" cy="882015"/>
            </a:xfrm>
            <a:custGeom>
              <a:avLst/>
              <a:gdLst/>
              <a:ahLst/>
              <a:cxnLst/>
              <a:rect r="r" b="b" t="t" l="l"/>
              <a:pathLst>
                <a:path h="882015" w="2310765">
                  <a:moveTo>
                    <a:pt x="0" y="0"/>
                  </a:moveTo>
                  <a:lnTo>
                    <a:pt x="2310765" y="0"/>
                  </a:lnTo>
                  <a:lnTo>
                    <a:pt x="231076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23" id="323"/>
          <p:cNvGrpSpPr/>
          <p:nvPr/>
        </p:nvGrpSpPr>
        <p:grpSpPr>
          <a:xfrm rot="0">
            <a:off x="7019449" y="7755493"/>
            <a:ext cx="1485900" cy="528638"/>
            <a:chOff x="0" y="0"/>
            <a:chExt cx="1981200" cy="704850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0" y="0"/>
              <a:ext cx="1981200" cy="704850"/>
            </a:xfrm>
            <a:custGeom>
              <a:avLst/>
              <a:gdLst/>
              <a:ahLst/>
              <a:cxnLst/>
              <a:rect r="r" b="b" t="t" l="l"/>
              <a:pathLst>
                <a:path h="70485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04850"/>
                  </a:lnTo>
                  <a:lnTo>
                    <a:pt x="0" y="70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8" r="0" b="-4768"/>
              </a:stretch>
            </a:blipFill>
          </p:spPr>
        </p:sp>
        <p:sp>
          <p:nvSpPr>
            <p:cNvPr name="TextBox 325" id="325"/>
            <p:cNvSpPr txBox="true"/>
            <p:nvPr/>
          </p:nvSpPr>
          <p:spPr>
            <a:xfrm>
              <a:off x="0" y="0"/>
              <a:ext cx="1981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49A3E"/>
                  </a:solidFill>
                  <a:latin typeface="Be Vietnam Pro Bold"/>
                  <a:ea typeface="Be Vietnam Pro Bold"/>
                  <a:cs typeface="Be Vietnam Pro Bold"/>
                  <a:sym typeface="Be Vietnam Pro Bold"/>
                </a:rPr>
                <a:t> 3 × 2 = 6</a:t>
              </a:r>
            </a:p>
          </p:txBody>
        </p:sp>
      </p:grpSp>
      <p:grpSp>
        <p:nvGrpSpPr>
          <p:cNvPr name="Group 326" id="326"/>
          <p:cNvGrpSpPr/>
          <p:nvPr/>
        </p:nvGrpSpPr>
        <p:grpSpPr>
          <a:xfrm rot="0">
            <a:off x="8610362" y="7689056"/>
            <a:ext cx="4357688" cy="661511"/>
            <a:chOff x="0" y="0"/>
            <a:chExt cx="5810250" cy="882015"/>
          </a:xfrm>
        </p:grpSpPr>
        <p:sp>
          <p:nvSpPr>
            <p:cNvPr name="Freeform 327" id="327"/>
            <p:cNvSpPr/>
            <p:nvPr/>
          </p:nvSpPr>
          <p:spPr>
            <a:xfrm flipH="false" flipV="false" rot="0">
              <a:off x="0" y="0"/>
              <a:ext cx="5810250" cy="882015"/>
            </a:xfrm>
            <a:custGeom>
              <a:avLst/>
              <a:gdLst/>
              <a:ahLst/>
              <a:cxnLst/>
              <a:rect r="r" b="b" t="t" l="l"/>
              <a:pathLst>
                <a:path h="882015" w="5810250">
                  <a:moveTo>
                    <a:pt x="0" y="0"/>
                  </a:moveTo>
                  <a:lnTo>
                    <a:pt x="5810250" y="0"/>
                  </a:lnTo>
                  <a:lnTo>
                    <a:pt x="5810250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F8FA"/>
            </a:solidFill>
            <a:ln w="18574" cap="sq">
              <a:solidFill>
                <a:srgbClr val="D8E4EC"/>
              </a:solidFill>
              <a:prstDash val="solid"/>
              <a:miter/>
            </a:ln>
          </p:spPr>
        </p:sp>
      </p:grpSp>
      <p:grpSp>
        <p:nvGrpSpPr>
          <p:cNvPr name="Group 328" id="328"/>
          <p:cNvGrpSpPr/>
          <p:nvPr/>
        </p:nvGrpSpPr>
        <p:grpSpPr>
          <a:xfrm rot="0">
            <a:off x="8733949" y="7755493"/>
            <a:ext cx="4110514" cy="535848"/>
            <a:chOff x="0" y="0"/>
            <a:chExt cx="5480685" cy="714464"/>
          </a:xfrm>
        </p:grpSpPr>
        <p:sp>
          <p:nvSpPr>
            <p:cNvPr name="Freeform 329" id="329"/>
            <p:cNvSpPr/>
            <p:nvPr/>
          </p:nvSpPr>
          <p:spPr>
            <a:xfrm flipH="false" flipV="false" rot="0">
              <a:off x="0" y="0"/>
              <a:ext cx="5480685" cy="714464"/>
            </a:xfrm>
            <a:custGeom>
              <a:avLst/>
              <a:gdLst/>
              <a:ahLst/>
              <a:cxnLst/>
              <a:rect r="r" b="b" t="t" l="l"/>
              <a:pathLst>
                <a:path h="714464" w="5480685">
                  <a:moveTo>
                    <a:pt x="0" y="0"/>
                  </a:moveTo>
                  <a:lnTo>
                    <a:pt x="5480685" y="0"/>
                  </a:lnTo>
                  <a:lnTo>
                    <a:pt x="5480685" y="714464"/>
                  </a:lnTo>
                  <a:lnTo>
                    <a:pt x="0" y="714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221" r="1286" b="-96875"/>
              </a:stretch>
            </a:blipFill>
          </p:spPr>
        </p:sp>
        <p:sp>
          <p:nvSpPr>
            <p:cNvPr name="TextBox 330" id="330"/>
            <p:cNvSpPr txBox="true"/>
            <p:nvPr/>
          </p:nvSpPr>
          <p:spPr>
            <a:xfrm>
              <a:off x="0" y="0"/>
              <a:ext cx="5480685" cy="714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Benchmark alternatives; validate our POD with users.</a:t>
              </a:r>
            </a:p>
          </p:txBody>
        </p:sp>
      </p:grpSp>
      <p:grpSp>
        <p:nvGrpSpPr>
          <p:cNvPr name="Group 331" id="331"/>
          <p:cNvGrpSpPr/>
          <p:nvPr/>
        </p:nvGrpSpPr>
        <p:grpSpPr>
          <a:xfrm rot="0">
            <a:off x="3543300" y="4986509"/>
            <a:ext cx="3272076" cy="535848"/>
            <a:chOff x="0" y="0"/>
            <a:chExt cx="4362768" cy="714464"/>
          </a:xfrm>
        </p:grpSpPr>
        <p:sp>
          <p:nvSpPr>
            <p:cNvPr name="Freeform 332" id="332"/>
            <p:cNvSpPr/>
            <p:nvPr/>
          </p:nvSpPr>
          <p:spPr>
            <a:xfrm flipH="false" flipV="false" rot="0">
              <a:off x="0" y="0"/>
              <a:ext cx="4362767" cy="714464"/>
            </a:xfrm>
            <a:custGeom>
              <a:avLst/>
              <a:gdLst/>
              <a:ahLst/>
              <a:cxnLst/>
              <a:rect r="r" b="b" t="t" l="l"/>
              <a:pathLst>
                <a:path h="714464" w="4362767">
                  <a:moveTo>
                    <a:pt x="0" y="0"/>
                  </a:moveTo>
                  <a:lnTo>
                    <a:pt x="4362767" y="0"/>
                  </a:lnTo>
                  <a:lnTo>
                    <a:pt x="4362767" y="714464"/>
                  </a:lnTo>
                  <a:lnTo>
                    <a:pt x="0" y="714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646" r="7" b="-68301"/>
              </a:stretch>
            </a:blipFill>
          </p:spPr>
        </p:sp>
        <p:sp>
          <p:nvSpPr>
            <p:cNvPr name="TextBox 333" id="333"/>
            <p:cNvSpPr txBox="true"/>
            <p:nvPr/>
          </p:nvSpPr>
          <p:spPr>
            <a:xfrm>
              <a:off x="0" y="0"/>
              <a:ext cx="4362768" cy="714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1C2530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 third-party tool may expose company data.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" y="1928812"/>
            <a:ext cx="16359188" cy="7715250"/>
            <a:chOff x="0" y="0"/>
            <a:chExt cx="2181225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122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9413" y="637325"/>
            <a:ext cx="6505120" cy="782749"/>
            <a:chOff x="0" y="0"/>
            <a:chExt cx="8673493" cy="10436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73493" cy="1043666"/>
            </a:xfrm>
            <a:custGeom>
              <a:avLst/>
              <a:gdLst/>
              <a:ahLst/>
              <a:cxnLst/>
              <a:rect r="r" b="b" t="t" l="l"/>
              <a:pathLst>
                <a:path h="1043666" w="8673493">
                  <a:moveTo>
                    <a:pt x="0" y="0"/>
                  </a:moveTo>
                  <a:lnTo>
                    <a:pt x="8673493" y="0"/>
                  </a:lnTo>
                  <a:lnTo>
                    <a:pt x="8673493" y="1043666"/>
                  </a:lnTo>
                  <a:lnTo>
                    <a:pt x="0" y="1043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716" r="-132812" b="-32628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8673493" cy="1034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4"/>
                </a:lnSpc>
              </a:pPr>
              <a:r>
                <a:rPr lang="en-US" sz="4162" b="true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REFERENCE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3440" y="1896675"/>
            <a:ext cx="16465348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Lewrick, M., Link, P., &amp; Leifer, L. (2020). The design thinking toolbox: A guide to mastering the most popular and valuable innovation methods. John Wiley &amp; Sons. Publisher page</a:t>
            </a:r>
          </a:p>
          <a:p>
            <a:pPr algn="l">
              <a:lnSpc>
                <a:spcPts val="2444"/>
              </a:lnSpc>
              <a:spcBef>
                <a:spcPct val="0"/>
              </a:spcBef>
            </a:pPr>
          </a:p>
          <a:p>
            <a:pPr algn="l">
              <a:lnSpc>
                <a:spcPts val="2444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McDonnall, M. C., Boydstun, J., &amp; Steverson, A. (2026). Access technology in the workplace study: Final report. National Research and Training Center on Blindness and Low Vision, Mississippi State University. Full report</a:t>
            </a:r>
          </a:p>
          <a:p>
            <a:pPr algn="l">
              <a:lnSpc>
                <a:spcPts val="2444"/>
              </a:lnSpc>
              <a:spcBef>
                <a:spcPct val="0"/>
              </a:spcBef>
            </a:pPr>
          </a:p>
          <a:p>
            <a:pPr algn="l">
              <a:lnSpc>
                <a:spcPts val="2444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McDonnall, M. C., Steverson, A., Sessler Trinkowsky, R., &amp; Sergi, K. (2024). Assistive technology use in the workplace by people with blindness and low vision: Perceived skill level, satisfaction, and challenges. Assistive Technology, 36(6), 429–436. https://doi.org/10.1080/10400435.2023.2213762</a:t>
            </a:r>
          </a:p>
          <a:p>
            <a:pPr algn="l">
              <a:lnSpc>
                <a:spcPts val="2444"/>
              </a:lnSpc>
              <a:spcBef>
                <a:spcPct val="0"/>
              </a:spcBef>
            </a:pPr>
          </a:p>
          <a:p>
            <a:pPr algn="l">
              <a:lnSpc>
                <a:spcPts val="2444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Trần, T. H. T. (2026, June 29). Việc làm cho người khuyết tật trong bối cảnh kinh tế số tại Việt Nam [Employment for people with disabilities in the context of the digital economy in Vietnam]. Nghiên cứu Kinh tế–Tài chính. https://nghiencuu.tapchikinhtetaichinh.vn/viec-lam-cho-nguoi-khuyet-tat-trong-boi-canh-kinh-te-so-tai-viet-nam-160365.html</a:t>
            </a:r>
          </a:p>
          <a:p>
            <a:pPr algn="l">
              <a:lnSpc>
                <a:spcPts val="2444"/>
              </a:lnSpc>
              <a:spcBef>
                <a:spcPct val="0"/>
              </a:spcBef>
            </a:pPr>
          </a:p>
          <a:p>
            <a:pPr algn="l">
              <a:lnSpc>
                <a:spcPts val="2444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Primary Research in the Interview session with End Users at RMIT university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550" y="1028700"/>
            <a:ext cx="8929688" cy="8900479"/>
            <a:chOff x="0" y="0"/>
            <a:chExt cx="11906250" cy="118673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06250" cy="11867305"/>
            </a:xfrm>
            <a:custGeom>
              <a:avLst/>
              <a:gdLst/>
              <a:ahLst/>
              <a:cxnLst/>
              <a:rect r="r" b="b" t="t" l="l"/>
              <a:pathLst>
                <a:path h="11867305" w="11906250">
                  <a:moveTo>
                    <a:pt x="0" y="0"/>
                  </a:moveTo>
                  <a:lnTo>
                    <a:pt x="11906250" y="0"/>
                  </a:lnTo>
                  <a:lnTo>
                    <a:pt x="11906250" y="11867305"/>
                  </a:lnTo>
                  <a:lnTo>
                    <a:pt x="0" y="11867305"/>
                  </a:lnTo>
                  <a:close/>
                </a:path>
              </a:pathLst>
            </a:custGeom>
            <a:solidFill>
              <a:srgbClr val="052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4152" y="1465648"/>
            <a:ext cx="8429625" cy="1285875"/>
            <a:chOff x="0" y="0"/>
            <a:chExt cx="11239500" cy="171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95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239500" cy="171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ALTONOMY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4152" y="2496387"/>
            <a:ext cx="8001000" cy="600075"/>
            <a:chOff x="0" y="0"/>
            <a:chExt cx="10668000" cy="800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8000" cy="800100"/>
            </a:xfrm>
            <a:custGeom>
              <a:avLst/>
              <a:gdLst/>
              <a:ahLst/>
              <a:cxnLst/>
              <a:rect r="r" b="b" t="t" l="l"/>
              <a:pathLst>
                <a:path h="8001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6680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Alternative Access. Full Autonomy.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4152" y="3269382"/>
            <a:ext cx="7739848" cy="1701198"/>
            <a:chOff x="0" y="0"/>
            <a:chExt cx="10319798" cy="2268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19798" cy="2268264"/>
            </a:xfrm>
            <a:custGeom>
              <a:avLst/>
              <a:gdLst/>
              <a:ahLst/>
              <a:cxnLst/>
              <a:rect r="r" b="b" t="t" l="l"/>
              <a:pathLst>
                <a:path h="2268264" w="10319798">
                  <a:moveTo>
                    <a:pt x="0" y="0"/>
                  </a:moveTo>
                  <a:lnTo>
                    <a:pt x="10319798" y="0"/>
                  </a:lnTo>
                  <a:lnTo>
                    <a:pt x="10319798" y="2268264"/>
                  </a:lnTo>
                  <a:lnTo>
                    <a:pt x="0" y="22682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973" r="317" b="-1776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319798" cy="2268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work opens the gate but inaccessible systems gatekeep autonomy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00537" y="5206387"/>
            <a:ext cx="8429625" cy="1285875"/>
            <a:chOff x="0" y="0"/>
            <a:chExt cx="11239500" cy="171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395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1239500" cy="172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L!T-a-Byte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6700" y="7006612"/>
            <a:ext cx="8465692" cy="2832777"/>
            <a:chOff x="0" y="0"/>
            <a:chExt cx="11287590" cy="377703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657317" cy="3657317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3607" t="-11901" r="-8748" b="-10454"/>
                </a:stretch>
              </a:blip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695417" y="0"/>
              <a:ext cx="3777036" cy="3777036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138" r="0" b="-138"/>
                </a:stretch>
              </a:blip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7510553" y="0"/>
              <a:ext cx="3777036" cy="3777036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r="r" b="b" t="t" l="l"/>
                <a:pathLst>
                  <a:path h="5255260" w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48082" t="-117609" r="-65532" b="-32954"/>
                </a:stretch>
              </a:blipFill>
            </p:spPr>
          </p:sp>
        </p:grpSp>
      </p:grpSp>
      <p:grpSp>
        <p:nvGrpSpPr>
          <p:cNvPr name="Group 25" id="25"/>
          <p:cNvGrpSpPr/>
          <p:nvPr/>
        </p:nvGrpSpPr>
        <p:grpSpPr>
          <a:xfrm rot="0">
            <a:off x="1388280" y="5143500"/>
            <a:ext cx="8429625" cy="1285875"/>
            <a:chOff x="0" y="0"/>
            <a:chExt cx="11239500" cy="1714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395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1239500" cy="171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 ARE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340637" y="1539612"/>
            <a:ext cx="7947363" cy="8747388"/>
            <a:chOff x="0" y="0"/>
            <a:chExt cx="2093133" cy="2303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3133" cy="2303839"/>
            </a:xfrm>
            <a:custGeom>
              <a:avLst/>
              <a:gdLst/>
              <a:ahLst/>
              <a:cxnLst/>
              <a:rect r="r" b="b" t="t" l="l"/>
              <a:pathLst>
                <a:path h="2303839" w="2093133">
                  <a:moveTo>
                    <a:pt x="0" y="0"/>
                  </a:moveTo>
                  <a:lnTo>
                    <a:pt x="2093133" y="0"/>
                  </a:lnTo>
                  <a:lnTo>
                    <a:pt x="2093133" y="2303839"/>
                  </a:lnTo>
                  <a:lnTo>
                    <a:pt x="0" y="2303839"/>
                  </a:lnTo>
                  <a:close/>
                </a:path>
              </a:pathLst>
            </a:custGeom>
            <a:solidFill>
              <a:srgbClr val="01206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093133" cy="2303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77462" y="5143500"/>
            <a:ext cx="9326880" cy="5584610"/>
            <a:chOff x="0" y="0"/>
            <a:chExt cx="1657619" cy="9925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57622" cy="992524"/>
            </a:xfrm>
            <a:custGeom>
              <a:avLst/>
              <a:gdLst/>
              <a:ahLst/>
              <a:cxnLst/>
              <a:rect r="r" b="b" t="t" l="l"/>
              <a:pathLst>
                <a:path h="992524" w="1657622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713132"/>
                  </a:lnTo>
                  <a:cubicBezTo>
                    <a:pt x="0" y="749643"/>
                    <a:pt x="13458" y="784872"/>
                    <a:pt x="37800" y="812084"/>
                  </a:cubicBezTo>
                  <a:lnTo>
                    <a:pt x="154967" y="943061"/>
                  </a:lnTo>
                  <a:cubicBezTo>
                    <a:pt x="183122" y="974536"/>
                    <a:pt x="223353" y="992526"/>
                    <a:pt x="265584" y="992524"/>
                  </a:cubicBezTo>
                  <a:lnTo>
                    <a:pt x="1509206" y="992524"/>
                  </a:lnTo>
                  <a:cubicBezTo>
                    <a:pt x="1548568" y="992525"/>
                    <a:pt x="1586318" y="976889"/>
                    <a:pt x="1614152" y="949055"/>
                  </a:cubicBezTo>
                  <a:cubicBezTo>
                    <a:pt x="1641985" y="921222"/>
                    <a:pt x="1657622" y="883472"/>
                    <a:pt x="1657622" y="844110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8">
                <a:alphaModFix amt="42000"/>
              </a:blip>
              <a:stretch>
                <a:fillRect l="0" t="-5670" r="0" b="-567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71612" y="6096277"/>
            <a:ext cx="7739848" cy="1000125"/>
            <a:chOff x="0" y="0"/>
            <a:chExt cx="10319798" cy="1333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19798" cy="1333500"/>
            </a:xfrm>
            <a:custGeom>
              <a:avLst/>
              <a:gdLst/>
              <a:ahLst/>
              <a:cxnLst/>
              <a:rect r="r" b="b" t="t" l="l"/>
              <a:pathLst>
                <a:path h="1333500" w="10319798">
                  <a:moveTo>
                    <a:pt x="0" y="0"/>
                  </a:moveTo>
                  <a:lnTo>
                    <a:pt x="10319798" y="0"/>
                  </a:lnTo>
                  <a:lnTo>
                    <a:pt x="10319798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313" r="317" b="-10031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319798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THE KEY IS YOURS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44866" y="328514"/>
            <a:ext cx="9326880" cy="4846017"/>
            <a:chOff x="0" y="0"/>
            <a:chExt cx="1657619" cy="8612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57622" cy="861258"/>
            </a:xfrm>
            <a:custGeom>
              <a:avLst/>
              <a:gdLst/>
              <a:ahLst/>
              <a:cxnLst/>
              <a:rect r="r" b="b" t="t" l="l"/>
              <a:pathLst>
                <a:path h="861258" w="1657622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9">
                <a:alphaModFix amt="42000"/>
              </a:blip>
              <a:stretch>
                <a:fillRect l="0" t="-14175" r="0" b="-1417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DAHV8oi3CP8</dc:identifier>
  <dcterms:modified xsi:type="dcterms:W3CDTF">2011-08-01T06:04:30Z</dcterms:modified>
  <cp:revision>1</cp:revision>
  <dc:title>ALTONOMY_ADC_Hackathon_2026.pptx</dc:title>
</cp:coreProperties>
</file>